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9870f1742f479c" /><Relationship Type="http://schemas.openxmlformats.org/officeDocument/2006/relationships/extended-properties" Target="/docProps/app.xml" Id="R246f9768e3924451" /><Relationship Type="http://schemas.openxmlformats.org/officeDocument/2006/relationships/officeDocument" Target="/ppt/presentation.xml" Id="Rb2f4c8d0403b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1c6a0284504838"/>
  </p:sldMasterIdLst>
  <p:notesMasterIdLst>
    <p:notesMasterId xmlns:r="http://schemas.openxmlformats.org/officeDocument/2006/relationships" r:id="R942297668ac448b3"/>
  </p:notesMasterIdLst>
  <p:sldIdLst>
    <p:sldId xmlns:r="http://schemas.openxmlformats.org/officeDocument/2006/relationships" id="256" r:id="R36f7f87c5d8d46bf"/>
    <p:sldId xmlns:r="http://schemas.openxmlformats.org/officeDocument/2006/relationships" id="257" r:id="Rebdc5763d2d44f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0767a96c84c11" /><Relationship Type="http://schemas.openxmlformats.org/officeDocument/2006/relationships/slideMaster" Target="/ppt/slideMasters/slideMaster1.xml" Id="Ra01c6a0284504838" /><Relationship Type="http://schemas.openxmlformats.org/officeDocument/2006/relationships/notesMaster" Target="/ppt/notesMasters/notesMaster1.xml" Id="R942297668ac448b3" /><Relationship Type="http://schemas.openxmlformats.org/officeDocument/2006/relationships/presProps" Target="/ppt/presProps.xml" Id="R629597c18ea044e9" /><Relationship Type="http://schemas.openxmlformats.org/officeDocument/2006/relationships/viewProps" Target="/ppt/viewProps.xml" Id="R201e0f318f704a56" /><Relationship Type="http://schemas.openxmlformats.org/officeDocument/2006/relationships/tableStyles" Target="/ppt/tableStyles.xml" Id="R1668a151d2d04d7a" /><Relationship Type="http://schemas.openxmlformats.org/officeDocument/2006/relationships/slide" Target="/ppt/slides/slide1.xml" Id="R36f7f87c5d8d46bf" /><Relationship Type="http://schemas.openxmlformats.org/officeDocument/2006/relationships/slide" Target="/ppt/slides/slide2.xml" Id="Rebdc5763d2d44f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6055541aa4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9ff4dbfb594bf9" /><Relationship Type="http://schemas.openxmlformats.org/officeDocument/2006/relationships/notesMaster" Target="/ppt/notesMasters/notesMaster1.xml" Id="R94fdc5269ef8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f9b4be8034634" /><Relationship Type="http://schemas.openxmlformats.org/officeDocument/2006/relationships/notesMaster" Target="/ppt/notesMasters/notesMaster1.xml" Id="R8b8468c630c3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cb4b3bb74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4ef8636c14704" /><Relationship Type="http://schemas.openxmlformats.org/officeDocument/2006/relationships/slideLayout" Target="/ppt/slideLayouts/slideLayout1.xml" Id="Rc363c5123cf3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3c5123cf3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5b7ddfb14105" /><Relationship Type="http://schemas.openxmlformats.org/officeDocument/2006/relationships/notesSlide" Target="/ppt/notesSlides/notesSlide1.xml" Id="R2f1040b634f745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d6de2f36c40c4" /><Relationship Type="http://schemas.openxmlformats.org/officeDocument/2006/relationships/notesSlide" Target="/ppt/notesSlides/notesSlide2.xml" Id="R4bc56c623b7144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0A377-9160-4B49-8288-9B86077E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4C73E-32FB-4F67-88C5-A292B4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A08E"/>
              </a:gs>
              <a:gs pos="100000">
                <a:srgbClr val="087EA4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A1F42-ACBC-4AAC-98B7-18A6E86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3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EF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DEFEA"/>
                </a:solidFill>
                <a:latin typeface="Aptos"/>
                <a:ea typeface="Aptos"/>
                <a:cs typeface="Aptos"/>
              </a:rPr>
              <a:t>Technische Umsetzung (Prototyp)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84C95-C6DA-49B8-AEED-97A7CF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43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09557-9214-4835-B8D3-97A2CA5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Digitales</a:t>
            </a:r>
          </a:p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Live-Studium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1243D-4E59-4B9E-984E-750F9AB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52400"/>
            <a:ext cx="666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94FD7-43F6-4FF4-889F-5C4C444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38125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F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BFA5"/>
                </a:solidFill>
                <a:latin typeface="Aptos"/>
                <a:ea typeface="Aptos"/>
                <a:cs typeface="Aptos"/>
              </a:rPr>
              <a:t>FOM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EBE1D-2B88-4F9D-8245-086B965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191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0BF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0BFA5"/>
                </a:solidFill>
                <a:latin typeface="Aptos"/>
                <a:ea typeface="Aptos"/>
                <a:cs typeface="Aptos"/>
              </a:rPr>
              <a:t>Hochschule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42023-4D16-4B0E-B811-F7571D4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Supervised ML ersetzt die alte regelbasierte Logik vollständig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97CF7-B081-4A39-9699-01CB97B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Zielvariable: Outperformance eines Sektor-ETFs gegenüber SPY über die nächsten 4 Wochen.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89730F4E-BD2A-4BC4-8736-AF0E9DEE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8C8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2F27C-2C29-4997-B1DE-23A6F07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62E3E-F094-42A7-BA5A-11EE9591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87A00-E4A4-41CE-AF16-37097A5E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SQLite-Daten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196E0-2BE2-4170-AEEB-26A795C1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Historische ETF-Preise, SPY-Benchmark und verfügbare Fundamentaldaten</a:t>
            </a:r>
          </a:p>
        </p:txBody>
      </p:sp>
      <p:sp>
        <p:nvSpPr>
          <p:cNvPr id="16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06EB515-41B6-46A9-84AC-2CDD149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8C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6A77B-E934-41DF-8E19-CF02D91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92132-0C05-4DA9-8D10-D49F6CB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76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87073-BE4D-4C13-B75C-7549082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765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Data Cleaning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4BD9C-6543-4245-A011-65D8CC8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Einheitliche Preisreihen nach Ticker, Sektor und Datum</a:t>
            </a:r>
          </a:p>
        </p:txBody>
      </p:sp>
      <p:sp>
        <p:nvSpPr>
          <p:cNvPr id="21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70118D2F-4347-456B-BF0F-87499AA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8C8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B2AE5-8D11-4571-8551-44568E8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5B9AD-2C0E-43C4-A6FC-C1D1A4E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76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3A73D-E567-4053-9D1C-7D3F61F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765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ADB28-C887-46D8-A7D2-CCF1943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385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Momentum, Volatilität, Drawdown, relative Stärke vs. SPY</a:t>
            </a:r>
          </a:p>
        </p:txBody>
      </p:sp>
      <p:sp>
        <p:nvSpPr>
          <p:cNvPr id="26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1602F8B3-384F-4255-B97E-CCD793C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8C8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A2384-328B-4256-BC16-7C0CF9B5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307A1-2106-4DA3-8BC7-35730F7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27AAA-F5EA-456A-A53A-60FDC89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765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Train/Test Split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3010E-0D9E-48A2-B1CB-894396F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Chronologische Trennung zur Reduktion von Look-Ahead-Bias</a:t>
            </a:r>
          </a:p>
        </p:txBody>
      </p:sp>
      <p:sp>
        <p:nvSpPr>
          <p:cNvPr id="31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05846774-7806-45CC-A5D5-718618BE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146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8C8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44B16-6C98-4CA3-A54B-CB0BF6F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96B08-7755-411D-9F25-CEAE115F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76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C439A-A808-4EAD-BBB4-AAC27ACD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67652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97607-7AF8-48CD-ADC1-F493EBA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38500"/>
            <a:ext cx="108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Klassifikation: outperformt der Sektor SPY in 21 Handelstagen?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14600" y="3276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85"/>
            </a:solidFill>
          </a:ln>
        </p:spPr>
      </p:cxnSp>
      <p:cxnSp>
        <p:nvCxnSpPr>
          <p:cNvPr id="37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876800" y="3276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85"/>
            </a:solidFill>
          </a:ln>
        </p:spPr>
      </p:cxnSp>
      <p:cxnSp>
        <p:nvCxnSpPr>
          <p:cNvPr id="38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42950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85"/>
            </a:solidFill>
          </a:ln>
        </p:spPr>
      </p:cxnSp>
      <p:cxnSp>
        <p:nvCxnSpPr>
          <p:cNvPr id="39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3276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85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6443B8-9872-4276-B980-74C4B9EC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62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BFE6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0E0B64-5ABE-4CEE-B3D9-B9E2D30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Feature 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3596CA-C0C8-45AE-9B16-677BD722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Momentum 21/63/126 · Volatilität · Downside Volatility · Drawdown · MA200-Abstand · Volume Momentum · Relative Stärke vs. SPY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260197-77F4-495B-9D80-260DFAE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3162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70813E-FCE4-413F-8693-D296FD46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72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Modell-Output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A65CB9-E95B-47DE-B948-CEAE1CB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ml_predicted_outperform_probability</a:t>
            </a:r>
          </a:p>
          <a:p xmlns:a="http://schemas.openxmlformats.org/drawingml/2006/main">
            <a:pPr algn="l">
              <a:defRPr sz="97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+ Modell-Konfidenz</a:t>
            </a:r>
          </a:p>
          <a:p xmlns:a="http://schemas.openxmlformats.org/drawingml/2006/main">
            <a:pPr algn="l">
              <a:defRPr sz="97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+ Ranking nach Wahrscheinlichkeit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F3507F-9EFB-449D-84ED-8A03C2C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62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5C4CE1-FA71-41FF-ADF6-C11E2C58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72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Aktueller Stand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A68C70-2080-455A-8F6F-E0246D8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577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RandomForestClassifier · 21.110 historische Beobachtungen · market_fundamental Feature 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5B1274-5F89-45A8-A0E5-606817B4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102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Google Trends bleibt vorbereitet, ist aber im aktuellen stabilen Modell nicht aktiv.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54DFF5-98F6-406C-B552-83C961D6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238875"/>
            <a:ext cx="1192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A7B0B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13D506-38D2-4183-AA77-6AF346A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3627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Quellenangaben: Projektartefakte src/ml_model.py, src/pipeline.py, data/processed/ml_sector_ranking.csv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77E152-565F-4E19-B628-6C8C226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667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KI Consulting Projekt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226C9F-1B24-42DF-BF39-B2FBC52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675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Konzeption eines KI-gestützten Sector Monitorings am Kapitalmarkt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58953B-2B81-4BA7-BD8A-CD00191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66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73052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1D78D-CE19-4349-86BD-9717998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11C12-0FCE-4AFE-9EDE-3159984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A08E"/>
              </a:gs>
              <a:gs pos="100000">
                <a:srgbClr val="087EA4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BD67C-184D-4C0B-9D01-711CB8A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3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EF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DEFEA"/>
                </a:solidFill>
                <a:latin typeface="Aptos"/>
                <a:ea typeface="Aptos"/>
                <a:cs typeface="Aptos"/>
              </a:rPr>
              <a:t>Technische Umsetzung (Prototyp)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76A9F-EDCF-43FC-86AE-2A0523B9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43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176C2-AF8E-4784-BF1B-4120745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Digitales</a:t>
            </a:r>
          </a:p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Live-Studium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E3004-E53C-4C66-BB25-93230B2C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52400"/>
            <a:ext cx="666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51A3E-4A53-4A8A-8B88-9E63BC7F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38125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F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BFA5"/>
                </a:solidFill>
                <a:latin typeface="Aptos"/>
                <a:ea typeface="Aptos"/>
                <a:cs typeface="Aptos"/>
              </a:rPr>
              <a:t>FOM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94810-EBB2-4B58-9D64-40FC9253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191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0BF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0BFA5"/>
                </a:solidFill>
                <a:latin typeface="Aptos"/>
                <a:ea typeface="Aptos"/>
                <a:cs typeface="Aptos"/>
              </a:rPr>
              <a:t>Hochschule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EAE16-A0E5-47CB-B9E6-CB04478F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Evaluation misst die Qualität der ML-basierten Ranking-Logik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31F9-6288-4276-BF36-A7E5968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Die technische Pipeline ist validiert; die aktuelle Modellgüte bleibt aber klar als Research-Prototyp einzuordnen.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4057D-1660-4988-878F-DFBEAB98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Klassifikationsmetriken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FF535-B92C-4A69-BCF3-2F4A7D41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6CC8-7954-42E8-BC6A-E955C4A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58A39-B6E3-4DEB-8853-8A6D8A73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0,523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19059-394E-4BAF-BC86-8191E1F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0ACD6-16DA-465A-B651-9A8519D6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Test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3A05B-CD4F-4C80-81B6-37C967CF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5270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CF9E0-C50E-4D08-BC8A-6627F5D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52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FF549-1733-45CC-8F0C-F7BEB89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05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0,398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89B69-1F5B-4344-91AC-42E81FF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A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A62A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C4372-2FC3-47EC-90B6-5760D63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Ranking-Signal schwach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776AA-B009-4060-BFF0-3D6200B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5270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D5D07-3864-421E-8CEC-E1AC65E3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52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FF25E-A1F3-489C-B55A-FC8E32B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0,516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6D84D-D206-4342-8692-76AE8F5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A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A62A"/>
                </a:solidFill>
                <a:latin typeface="Aptos"/>
                <a:ea typeface="Aptos"/>
                <a:cs typeface="Aptos"/>
              </a:rPr>
              <a:t>ROC AUC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B3DD6-A7B6-4103-98FB-FC9BE2A5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385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knapp über Zufall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6D69A-4CB3-4386-B70D-AEFE93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50476-158C-4062-AA9D-6D7B6CF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D9384-8B2E-489E-874C-23C8C9E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05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0,366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DCA25-3DD8-4745-A8F1-028CB9E0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61E9B-63FD-474E-8368-4357EC79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385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Outperformer-Erkennung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C8BC2-CCBB-492D-BC1D-B9C44AD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3676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28C2C0-F72A-4F47-8B4D-7E89C6AE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Backtest-Diagnose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28F2A8-BC77-4D79-B8EB-E724ACF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Monatlich Top-Sektoren nach ML-Wahrscheinlichkeit auswählen und gegen Equal-Weight-Sektorbaseline vergleichen.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13FE8C-CACC-43A2-A1B2-69936AD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ML Top Sectors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1D48FE-E681-4166-A6B9-1FD6242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F0EF05-A049-47B4-93F4-795F94B0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EB19E9-FA18-4888-B408-E8CB34AF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05150"/>
            <a:ext cx="552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5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5A5A"/>
                </a:solidFill>
                <a:latin typeface="Aptos"/>
                <a:ea typeface="Aptos"/>
                <a:cs typeface="Aptos"/>
              </a:rPr>
              <a:t>-18,7%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903E6B-3576-4968-9F49-BF56FF93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Equal-weight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4BBBD2-5F2E-4945-9913-064ADCAE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0106D-E129-4AFC-BC2D-D4F33FB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638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FDE909-E462-424E-8B86-BB24D62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552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7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7777"/>
                </a:solidFill>
                <a:latin typeface="Aptos"/>
                <a:ea typeface="Aptos"/>
                <a:cs typeface="Aptos"/>
              </a:rPr>
              <a:t>-14,5%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60E1A7-8A34-4845-BFBB-C3F0379D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Hit Rate ML: 45,2% · Equal-weight: 48,4%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A47C95-F3F4-43C4-A4A8-AB477BD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BFE6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834515-A51A-455C-900A-43DC75EB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8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85"/>
                </a:solidFill>
                <a:latin typeface="Aptos"/>
                <a:ea typeface="Aptos"/>
                <a:cs typeface="Aptos"/>
              </a:rPr>
              <a:t>Feature Importance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72CA35-C6E1-407C-9C2E-39FF0514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volatility_20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49CA3E-08AE-428E-81B9-C9884A4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2442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CB4DB5-B93A-4591-8E5B-D75750A2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24425"/>
            <a:ext cx="162218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4F9E5-B224-44F8-BD8E-B3E04622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577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0.123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8E7B63-A08C-4415-B5AD-15888A2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drawdown_current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7AA2B9-75B4-4E81-A81B-8EB3E7A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2101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A4A99E-59DA-468C-B7D5-3F988CF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210175"/>
            <a:ext cx="1543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4A787B-32C0-46ED-B6C5-43C5C0E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43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0.117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F6294-B65E-456E-B55F-B4122F1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426"/>
                </a:solidFill>
                <a:latin typeface="Aptos"/>
                <a:ea typeface="Aptos"/>
                <a:cs typeface="Aptos"/>
              </a:rPr>
              <a:t>rel_strength_vs_spy_126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6E441E-6D9F-49AE-9C7E-109707B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666075-ACC1-4874-86EF-481C73E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15166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5B513F-E4DA-487D-A7C4-A36C196F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4292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0.115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C26417-7E7B-4DFF-8CEB-2F2A055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3387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3ACA1F-8B53-4E01-BAFB-232A33C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A6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CA6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EE1890-DAD1-41CE-9AF5-153D38B1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4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6"/>
                </a:solidFill>
                <a:latin typeface="Aptos"/>
                <a:ea typeface="Aptos"/>
                <a:cs typeface="Aptos"/>
              </a:rPr>
              <a:t>Das Modell ist end-to-end evaluierbar und die Ranking-Logik ist transparent messbar. Die aktuelle Güte liegt jedoch nur knapp über Zufallsniveau. Für CRISP-DM heißt das: technisch validierter Prototyp, fachlich nächster Zyklus mit Feature- und Datenverbesserung.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4DBDA7-9B8E-4188-A08C-91EAA54C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19725"/>
            <a:ext cx="433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5A5A"/>
                </a:solidFill>
                <a:latin typeface="Aptos"/>
                <a:ea typeface="Aptos"/>
                <a:cs typeface="Aptos"/>
              </a:rPr>
              <a:t>Status: Research Prototype · keine produktive Investment-Entscheidung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555E5F-D251-4E2E-A694-49CC1EA8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238875"/>
            <a:ext cx="1192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A7B0B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F95ECE-ACA2-439F-93C3-E4728EE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3627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Quellenangaben: data/processed/ml_evaluation_metrics.csv, ml_backtest_metrics.csv, ml_feature_importance.csv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BADEFB-A1D6-4183-B027-74448CF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667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KI Consulting Projekt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B56110-5CCA-4AFA-BD76-4591890C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675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Konzeption eines KI-gestützten Sector Monitorings am Kapitalmarkt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17E7D4-59BD-4C7D-87D4-FD176C39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66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677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48932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2026-07-04T14:34:39.3730000Z</dcterms:created>
  <dcterms:modified xsi:type="dcterms:W3CDTF">2026-07-04T14:34:39.3730000Z</dcterms:modified>
</coreProperties>
</file>