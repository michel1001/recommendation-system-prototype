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</p:sldIdLst>
  <p:sldSz cx="12192000" cy="6858000"/>
  <p:notesSz cx="6858000" cy="9144000"/>
  <p:defaultTextStyle>
    <a:defPPr>
      <a:defRPr lang="de-DE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102" d="100"/>
          <a:sy n="102" d="100"/>
        </p:scale>
        <p:origin x="876" y="11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5" Type="http://schemas.openxmlformats.org/officeDocument/2006/relationships/slide" Target="slides/slide4.xml"/><Relationship Id="rId10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71D1746-2A35-2E42-44CD-30CB2CFB0A07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de-DE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ACCD5D6C-EEB5-CEDE-8A8C-021FCD63DE9A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de-DE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2F772CA-311D-5125-C0D4-F6402491749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E07464E-1942-4F73-A464-92C66D16263D}" type="datetimeFigureOut">
              <a:rPr lang="de-DE" smtClean="0"/>
              <a:t>26.06.2026</a:t>
            </a:fld>
            <a:endParaRPr lang="de-DE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A7DC7CB-9828-496A-18FC-7D33CBD5D29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60A5A06-A8CC-D1FE-24A3-5D3614F867F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3EFBA45-7BE6-4AEB-8D8C-6A6C5142B21A}" type="slidenum">
              <a:rPr lang="de-DE" smtClean="0"/>
              <a:t>‹#›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169594388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C976B13-4818-F690-014E-9439E89FBB4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de-DE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3AFA335-E94E-EB14-0B11-45583CC87B4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de-DE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4A685EE-F8D8-A225-F225-8F5CC992AA5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E07464E-1942-4F73-A464-92C66D16263D}" type="datetimeFigureOut">
              <a:rPr lang="de-DE" smtClean="0"/>
              <a:t>26.06.2026</a:t>
            </a:fld>
            <a:endParaRPr lang="de-DE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B750B51-938D-0C90-AFA4-A22037F089E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65B23F0-39F5-F994-AD41-AF41AEEA78B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3EFBA45-7BE6-4AEB-8D8C-6A6C5142B21A}" type="slidenum">
              <a:rPr lang="de-DE" smtClean="0"/>
              <a:t>‹#›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215877251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F342124-760D-3EE2-3A3E-BA50A58A2DF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de-DE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0E20227-CBF3-E56B-DC40-558A508352D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3C3A79E-8B85-8957-8B37-73FDBEC8DFC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E07464E-1942-4F73-A464-92C66D16263D}" type="datetimeFigureOut">
              <a:rPr lang="de-DE" smtClean="0"/>
              <a:t>26.06.2026</a:t>
            </a:fld>
            <a:endParaRPr lang="de-DE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B2C27AA-12C9-D87D-0749-AB0D7C573CE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E567F20-CEAF-9A8B-4533-14F6CB1921C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3EFBA45-7BE6-4AEB-8D8C-6A6C5142B21A}" type="slidenum">
              <a:rPr lang="de-DE" smtClean="0"/>
              <a:t>‹#›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134525633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D27B151-295C-BBE7-2D4F-001A7C49096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de-DE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6894F23-BF2E-4531-C7B0-A964A855234E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de-DE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B18A2419-6672-6141-1227-2D732041FBBC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de-DE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DC42EC74-0358-64B1-6194-57EAF692F64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E07464E-1942-4F73-A464-92C66D16263D}" type="datetimeFigureOut">
              <a:rPr lang="de-DE" smtClean="0"/>
              <a:t>26.06.2026</a:t>
            </a:fld>
            <a:endParaRPr lang="de-DE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C64AB1D-6549-B9D6-D21A-2B38A40C60F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771DE5B2-BCC4-A83C-E8CB-893A921BBE8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3EFBA45-7BE6-4AEB-8D8C-6A6C5142B21A}" type="slidenum">
              <a:rPr lang="de-DE" smtClean="0"/>
              <a:t>‹#›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353034678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8C3DE43-163B-B413-5C35-64ED7E19725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de-DE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8A8B5DA-FFF3-42DE-7A5A-E037B754944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A48D3142-BA78-C3AE-C529-4E2F2EA8F2D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de-DE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DE22EDA7-23FE-7051-7BDD-C042AFCCF167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EEFE8F3C-9764-2690-65A0-A4458920F8BF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de-DE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1E653D94-9437-4133-52D6-B9F19F08D91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E07464E-1942-4F73-A464-92C66D16263D}" type="datetimeFigureOut">
              <a:rPr lang="de-DE" smtClean="0"/>
              <a:t>26.06.2026</a:t>
            </a:fld>
            <a:endParaRPr lang="de-DE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2D06F12C-4C63-F8CB-1E20-7BF9E1F93D3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615AC43F-B6DD-00E8-1819-278BBAAF9BF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3EFBA45-7BE6-4AEB-8D8C-6A6C5142B21A}" type="slidenum">
              <a:rPr lang="de-DE" smtClean="0"/>
              <a:t>‹#›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347209253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99EC7BD-653E-F07F-ADCD-36AB3BD0DF1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de-DE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0AA04DB4-1505-CBEE-68C4-C905AE3FDCE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E07464E-1942-4F73-A464-92C66D16263D}" type="datetimeFigureOut">
              <a:rPr lang="de-DE" smtClean="0"/>
              <a:t>26.06.2026</a:t>
            </a:fld>
            <a:endParaRPr lang="de-DE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D309ACCD-E1EF-E6D2-1F36-C7BD04CB54C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1E229220-8FFE-147B-3B8A-667B5EEB3F6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3EFBA45-7BE6-4AEB-8D8C-6A6C5142B21A}" type="slidenum">
              <a:rPr lang="de-DE" smtClean="0"/>
              <a:t>‹#›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168012646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056755B4-FB1A-AB22-F0BA-3CD872619C3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E07464E-1942-4F73-A464-92C66D16263D}" type="datetimeFigureOut">
              <a:rPr lang="de-DE" smtClean="0"/>
              <a:t>26.06.2026</a:t>
            </a:fld>
            <a:endParaRPr lang="de-DE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C875A4C7-7C46-5B23-3207-247EA90DD1A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537D256-BFBD-2785-15A3-37BE43570D4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3EFBA45-7BE6-4AEB-8D8C-6A6C5142B21A}" type="slidenum">
              <a:rPr lang="de-DE" smtClean="0"/>
              <a:t>‹#›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412798165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DFB09A3-02BE-DA08-0DB9-AAE26AB676F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de-DE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93AA493-BF1B-8777-E0D8-164087B9BA9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de-DE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3F74A922-30CC-2CFD-A5D6-B913E6DD9EE4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AFF6C411-9AB7-6EB6-EA0D-E755580F9CA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E07464E-1942-4F73-A464-92C66D16263D}" type="datetimeFigureOut">
              <a:rPr lang="de-DE" smtClean="0"/>
              <a:t>26.06.2026</a:t>
            </a:fld>
            <a:endParaRPr lang="de-DE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F3DC5B5-BCDC-C950-2E64-5F02CEC4293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F0B1B8C-F4D7-3BF3-1452-83EBE14A90E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3EFBA45-7BE6-4AEB-8D8C-6A6C5142B21A}" type="slidenum">
              <a:rPr lang="de-DE" smtClean="0"/>
              <a:t>‹#›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168714942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B5FF343-E548-201C-8C88-9C23B131A51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de-DE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BE24AB88-1527-4A2F-4D90-278344968B20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de-DE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579FBAF4-DC1F-F138-5082-57537A89F771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CB66B97F-D603-6233-324F-54E36C7AD55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E07464E-1942-4F73-A464-92C66D16263D}" type="datetimeFigureOut">
              <a:rPr lang="de-DE" smtClean="0"/>
              <a:t>26.06.2026</a:t>
            </a:fld>
            <a:endParaRPr lang="de-DE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9E7A018E-649E-AD3B-E9C6-F17CBE63F9C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2819E84C-25C6-4DE1-E216-1B0F2A74553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3EFBA45-7BE6-4AEB-8D8C-6A6C5142B21A}" type="slidenum">
              <a:rPr lang="de-DE" smtClean="0"/>
              <a:t>‹#›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74867406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AD721D5-8014-6B65-66EB-3D4099132FA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de-DE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37CC2823-9215-52E7-D9BA-9BD81284E11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de-DE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A981DB9-82B7-9369-0E89-E0E7BA778A3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E07464E-1942-4F73-A464-92C66D16263D}" type="datetimeFigureOut">
              <a:rPr lang="de-DE" smtClean="0"/>
              <a:t>26.06.2026</a:t>
            </a:fld>
            <a:endParaRPr lang="de-DE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CC9E827-BBD1-24BA-CA73-DD3A2271F39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5EAC7DC-2057-DAFC-3F67-11F39386543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3EFBA45-7BE6-4AEB-8D8C-6A6C5142B21A}" type="slidenum">
              <a:rPr lang="de-DE" smtClean="0"/>
              <a:t>‹#›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26693581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B329EE02-7B4C-9CC0-4C72-32134E452CAF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de-DE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12667E16-D8C9-6941-E630-985DBEB8CB5A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de-DE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34252BC-B275-FCBA-3A3B-42965D840EA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E07464E-1942-4F73-A464-92C66D16263D}" type="datetimeFigureOut">
              <a:rPr lang="de-DE" smtClean="0"/>
              <a:t>26.06.2026</a:t>
            </a:fld>
            <a:endParaRPr lang="de-DE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9FA5EE3-400D-24C5-12A7-72560F4CB87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387CF04-6FFB-891F-B6C9-3796BC15957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3EFBA45-7BE6-4AEB-8D8C-6A6C5142B21A}" type="slidenum">
              <a:rPr lang="de-DE" smtClean="0"/>
              <a:t>‹#›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81363517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D0606658-09A6-5EF6-AB0A-218BDDA627F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de-DE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2E1C69F-98B2-72D7-F533-D457A55356E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de-DE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A65C07A-89DB-28D0-BEC6-109626BA7CF2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7E07464E-1942-4F73-A464-92C66D16263D}" type="datetimeFigureOut">
              <a:rPr lang="de-DE" smtClean="0"/>
              <a:t>26.06.2026</a:t>
            </a:fld>
            <a:endParaRPr lang="de-DE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8693C49-0A4D-98BB-3843-EE00BC6CB2FA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de-DE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30D6D76-7D54-B738-A98B-F9C052958C7A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B3EFBA45-7BE6-4AEB-8D8C-6A6C5142B21A}" type="slidenum">
              <a:rPr lang="de-DE" smtClean="0"/>
              <a:t>‹#›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377198751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de-DE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45EA2D4F-5CB3-FE92-B88F-D39AA067F21B}"/>
              </a:ext>
            </a:extLst>
          </p:cNvPr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EAF2F7"/>
          </a:solidFill>
          <a:ln>
            <a:solidFill>
              <a:srgbClr val="EAF2F7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5AE81FF4-EAB1-A8A6-A29D-3722ED96319E}"/>
              </a:ext>
            </a:extLst>
          </p:cNvPr>
          <p:cNvSpPr/>
          <p:nvPr/>
        </p:nvSpPr>
        <p:spPr>
          <a:xfrm>
            <a:off x="8138160" y="0"/>
            <a:ext cx="4050792" cy="6858000"/>
          </a:xfrm>
          <a:prstGeom prst="rect">
            <a:avLst/>
          </a:prstGeom>
          <a:solidFill>
            <a:srgbClr val="0F1B2B"/>
          </a:solidFill>
          <a:ln>
            <a:solidFill>
              <a:srgbClr val="0F1B2B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0B4EFE9B-3DA1-3707-FABF-43129003C134}"/>
              </a:ext>
            </a:extLst>
          </p:cNvPr>
          <p:cNvSpPr/>
          <p:nvPr/>
        </p:nvSpPr>
        <p:spPr>
          <a:xfrm>
            <a:off x="530352" y="411480"/>
            <a:ext cx="118872" cy="118872"/>
          </a:xfrm>
          <a:prstGeom prst="rect">
            <a:avLst/>
          </a:prstGeom>
          <a:solidFill>
            <a:srgbClr val="187D9F"/>
          </a:solidFill>
          <a:ln>
            <a:solidFill>
              <a:srgbClr val="187D9F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1570431E-9DBF-9D4A-4169-CC3824EA7B54}"/>
              </a:ext>
            </a:extLst>
          </p:cNvPr>
          <p:cNvSpPr txBox="1"/>
          <p:nvPr/>
        </p:nvSpPr>
        <p:spPr>
          <a:xfrm>
            <a:off x="713232" y="338328"/>
            <a:ext cx="2926080" cy="190821"/>
          </a:xfrm>
          <a:prstGeom prst="rect">
            <a:avLst/>
          </a:prstGeom>
          <a:noFill/>
        </p:spPr>
        <p:txBody>
          <a:bodyPr vert="horz" lIns="36576" tIns="18288" rIns="36576" bIns="18288" rtlCol="0">
            <a:spAutoFit/>
          </a:bodyPr>
          <a:lstStyle/>
          <a:p>
            <a:r>
              <a:rPr lang="de-DE" sz="1000" b="1">
                <a:solidFill>
                  <a:srgbClr val="187D9F"/>
                </a:solidFill>
                <a:latin typeface="Aptos" panose="020B0004020202020204" pitchFamily="34" charset="0"/>
              </a:rPr>
              <a:t>PROTOTYPE OVERVIEW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58E8250A-0A5F-4F3F-E8F3-4A13EF691257}"/>
              </a:ext>
            </a:extLst>
          </p:cNvPr>
          <p:cNvSpPr txBox="1"/>
          <p:nvPr/>
        </p:nvSpPr>
        <p:spPr>
          <a:xfrm>
            <a:off x="530352" y="950976"/>
            <a:ext cx="7086600" cy="621709"/>
          </a:xfrm>
          <a:prstGeom prst="rect">
            <a:avLst/>
          </a:prstGeom>
          <a:noFill/>
        </p:spPr>
        <p:txBody>
          <a:bodyPr vert="horz" lIns="36576" tIns="18288" rIns="36576" bIns="18288" rtlCol="0">
            <a:spAutoFit/>
          </a:bodyPr>
          <a:lstStyle/>
          <a:p>
            <a:r>
              <a:rPr lang="de-DE" sz="3800" b="1">
                <a:solidFill>
                  <a:srgbClr val="1D2530"/>
                </a:solidFill>
                <a:latin typeface="Aptos" panose="020B0004020202020204" pitchFamily="34" charset="0"/>
              </a:rPr>
              <a:t>AI Sector Monitoring Prototype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6ECC59E7-2AA5-8C2B-F522-5AA59B4E067D}"/>
              </a:ext>
            </a:extLst>
          </p:cNvPr>
          <p:cNvSpPr txBox="1"/>
          <p:nvPr/>
        </p:nvSpPr>
        <p:spPr>
          <a:xfrm>
            <a:off x="566928" y="2176272"/>
            <a:ext cx="6400800" cy="560153"/>
          </a:xfrm>
          <a:prstGeom prst="rect">
            <a:avLst/>
          </a:prstGeom>
          <a:noFill/>
        </p:spPr>
        <p:txBody>
          <a:bodyPr vert="horz" lIns="36576" tIns="18288" rIns="36576" bIns="18288" rtlCol="0">
            <a:spAutoFit/>
          </a:bodyPr>
          <a:lstStyle/>
          <a:p>
            <a:r>
              <a:rPr lang="en-US" sz="1700">
                <a:solidFill>
                  <a:srgbClr val="9CA9B6"/>
                </a:solidFill>
                <a:latin typeface="Aptos" panose="020B0004020202020204" pitchFamily="34" charset="0"/>
              </a:rPr>
              <a:t>Explainable sector ranking that combines live market/fundamental data with Google Trends-style attention signals for analyst review.</a:t>
            </a:r>
            <a:endParaRPr lang="de-DE" sz="1700">
              <a:solidFill>
                <a:srgbClr val="9CA9B6"/>
              </a:solidFill>
              <a:latin typeface="Aptos" panose="020B0004020202020204" pitchFamily="34" charset="0"/>
            </a:endParaRP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E9B22C36-8345-3E39-1602-34B1DABFB0EF}"/>
              </a:ext>
            </a:extLst>
          </p:cNvPr>
          <p:cNvSpPr/>
          <p:nvPr/>
        </p:nvSpPr>
        <p:spPr>
          <a:xfrm>
            <a:off x="658368" y="3319272"/>
            <a:ext cx="64008" cy="64008"/>
          </a:xfrm>
          <a:prstGeom prst="rect">
            <a:avLst/>
          </a:prstGeom>
          <a:solidFill>
            <a:srgbClr val="187D9F"/>
          </a:solidFill>
          <a:ln>
            <a:solidFill>
              <a:srgbClr val="187D9F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8756549F-DDDF-E4A4-CC95-FD11C8C8B0E5}"/>
              </a:ext>
            </a:extLst>
          </p:cNvPr>
          <p:cNvSpPr txBox="1"/>
          <p:nvPr/>
        </p:nvSpPr>
        <p:spPr>
          <a:xfrm>
            <a:off x="822960" y="3246120"/>
            <a:ext cx="6464808" cy="236988"/>
          </a:xfrm>
          <a:prstGeom prst="rect">
            <a:avLst/>
          </a:prstGeom>
          <a:noFill/>
        </p:spPr>
        <p:txBody>
          <a:bodyPr vert="horz" lIns="36576" tIns="18288" rIns="36576" bIns="18288" rtlCol="0">
            <a:spAutoFit/>
          </a:bodyPr>
          <a:lstStyle/>
          <a:p>
            <a:r>
              <a:rPr lang="en-US" sz="1300">
                <a:solidFill>
                  <a:srgbClr val="1D2530"/>
                </a:solidFill>
                <a:latin typeface="Aptos" panose="020B0004020202020204" pitchFamily="34" charset="0"/>
              </a:rPr>
              <a:t>Ten sector ETF universe with yfinance market and available ETF fundamental data.</a:t>
            </a:r>
            <a:endParaRPr lang="de-DE" sz="1300">
              <a:solidFill>
                <a:srgbClr val="1D2530"/>
              </a:solidFill>
              <a:latin typeface="Aptos" panose="020B0004020202020204" pitchFamily="34" charset="0"/>
            </a:endParaRP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CD659C9D-C321-8A2C-66E8-78E3516EC1D8}"/>
              </a:ext>
            </a:extLst>
          </p:cNvPr>
          <p:cNvSpPr/>
          <p:nvPr/>
        </p:nvSpPr>
        <p:spPr>
          <a:xfrm>
            <a:off x="658368" y="3776472"/>
            <a:ext cx="64008" cy="64008"/>
          </a:xfrm>
          <a:prstGeom prst="rect">
            <a:avLst/>
          </a:prstGeom>
          <a:solidFill>
            <a:srgbClr val="187D9F"/>
          </a:solidFill>
          <a:ln>
            <a:solidFill>
              <a:srgbClr val="187D9F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FEFC9529-DD23-A963-ABD9-B7479B979239}"/>
              </a:ext>
            </a:extLst>
          </p:cNvPr>
          <p:cNvSpPr txBox="1"/>
          <p:nvPr/>
        </p:nvSpPr>
        <p:spPr>
          <a:xfrm>
            <a:off x="822960" y="3703320"/>
            <a:ext cx="6464808" cy="437043"/>
          </a:xfrm>
          <a:prstGeom prst="rect">
            <a:avLst/>
          </a:prstGeom>
          <a:noFill/>
        </p:spPr>
        <p:txBody>
          <a:bodyPr vert="horz" lIns="36576" tIns="18288" rIns="36576" bIns="18288" rtlCol="0">
            <a:spAutoFit/>
          </a:bodyPr>
          <a:lstStyle/>
          <a:p>
            <a:r>
              <a:rPr lang="en-US" sz="1300">
                <a:solidFill>
                  <a:srgbClr val="1D2530"/>
                </a:solidFill>
                <a:latin typeface="Aptos" panose="020B0004020202020204" pitchFamily="34" charset="0"/>
              </a:rPr>
              <a:t>Google Trends integration is implemented, but current presentation mode uses clearly flagged demo trend data due to HTTP 429 rate limiting.</a:t>
            </a:r>
            <a:endParaRPr lang="de-DE" sz="1300">
              <a:solidFill>
                <a:srgbClr val="1D2530"/>
              </a:solidFill>
              <a:latin typeface="Aptos" panose="020B0004020202020204" pitchFamily="34" charset="0"/>
            </a:endParaRP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D099A7D0-DBF5-161C-AE1A-B8CBD8F0E108}"/>
              </a:ext>
            </a:extLst>
          </p:cNvPr>
          <p:cNvSpPr/>
          <p:nvPr/>
        </p:nvSpPr>
        <p:spPr>
          <a:xfrm>
            <a:off x="658368" y="4389120"/>
            <a:ext cx="64008" cy="64008"/>
          </a:xfrm>
          <a:prstGeom prst="rect">
            <a:avLst/>
          </a:prstGeom>
          <a:solidFill>
            <a:srgbClr val="187D9F"/>
          </a:solidFill>
          <a:ln>
            <a:solidFill>
              <a:srgbClr val="187D9F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5EEBC2F9-AC7D-9561-FE2B-30D845E60493}"/>
              </a:ext>
            </a:extLst>
          </p:cNvPr>
          <p:cNvSpPr txBox="1"/>
          <p:nvPr/>
        </p:nvSpPr>
        <p:spPr>
          <a:xfrm>
            <a:off x="822960" y="4315968"/>
            <a:ext cx="6464808" cy="437043"/>
          </a:xfrm>
          <a:prstGeom prst="rect">
            <a:avLst/>
          </a:prstGeom>
          <a:noFill/>
        </p:spPr>
        <p:txBody>
          <a:bodyPr vert="horz" lIns="36576" tIns="18288" rIns="36576" bIns="18288" rtlCol="0">
            <a:spAutoFit/>
          </a:bodyPr>
          <a:lstStyle/>
          <a:p>
            <a:r>
              <a:rPr lang="en-US" sz="1300">
                <a:solidFill>
                  <a:srgbClr val="1D2530"/>
                </a:solidFill>
                <a:latin typeface="Aptos" panose="020B0004020202020204" pitchFamily="34" charset="0"/>
              </a:rPr>
              <a:t>Outputs include CSV ranking, Streamlit dashboard, HTML report, verification checks, and tests.</a:t>
            </a:r>
            <a:endParaRPr lang="de-DE" sz="1300">
              <a:solidFill>
                <a:srgbClr val="1D2530"/>
              </a:solidFill>
              <a:latin typeface="Aptos" panose="020B0004020202020204" pitchFamily="34" charset="0"/>
            </a:endParaRPr>
          </a:p>
        </p:txBody>
      </p:sp>
      <p:sp>
        <p:nvSpPr>
          <p:cNvPr id="14" name="Rectangle: Rounded Corners 13">
            <a:extLst>
              <a:ext uri="{FF2B5EF4-FFF2-40B4-BE49-F238E27FC236}">
                <a16:creationId xmlns:a16="http://schemas.microsoft.com/office/drawing/2014/main" id="{09E0D1DE-06BB-30CB-CA6B-742A8CD01B9D}"/>
              </a:ext>
            </a:extLst>
          </p:cNvPr>
          <p:cNvSpPr/>
          <p:nvPr/>
        </p:nvSpPr>
        <p:spPr>
          <a:xfrm>
            <a:off x="8549640" y="822960"/>
            <a:ext cx="2788921" cy="1234440"/>
          </a:xfrm>
          <a:prstGeom prst="roundRect">
            <a:avLst/>
          </a:prstGeom>
          <a:solidFill>
            <a:srgbClr val="FFFFFF"/>
          </a:solidFill>
          <a:ln>
            <a:solidFill>
              <a:srgbClr val="D0DAE4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354F18A5-84FE-959E-E8C6-34216399F3B8}"/>
              </a:ext>
            </a:extLst>
          </p:cNvPr>
          <p:cNvSpPr/>
          <p:nvPr/>
        </p:nvSpPr>
        <p:spPr>
          <a:xfrm>
            <a:off x="8549640" y="822960"/>
            <a:ext cx="73152" cy="1234440"/>
          </a:xfrm>
          <a:prstGeom prst="rect">
            <a:avLst/>
          </a:prstGeom>
          <a:solidFill>
            <a:srgbClr val="E8B64B"/>
          </a:solidFill>
          <a:ln>
            <a:solidFill>
              <a:srgbClr val="E8B64B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B9EFB6AC-EB86-EB68-F377-7A96455A6E79}"/>
              </a:ext>
            </a:extLst>
          </p:cNvPr>
          <p:cNvSpPr txBox="1"/>
          <p:nvPr/>
        </p:nvSpPr>
        <p:spPr>
          <a:xfrm>
            <a:off x="8750808" y="987552"/>
            <a:ext cx="2468880" cy="390876"/>
          </a:xfrm>
          <a:prstGeom prst="rect">
            <a:avLst/>
          </a:prstGeom>
          <a:noFill/>
        </p:spPr>
        <p:txBody>
          <a:bodyPr vert="horz" lIns="36576" tIns="18288" rIns="36576" bIns="18288" rtlCol="0">
            <a:spAutoFit/>
          </a:bodyPr>
          <a:lstStyle/>
          <a:p>
            <a:r>
              <a:rPr lang="de-DE" sz="2300" b="1">
                <a:solidFill>
                  <a:srgbClr val="1D2530"/>
                </a:solidFill>
                <a:latin typeface="Aptos" panose="020B0004020202020204" pitchFamily="34" charset="0"/>
              </a:rPr>
              <a:t>18 tests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0C2E6681-8FAA-AD3E-6608-A2A426532354}"/>
              </a:ext>
            </a:extLst>
          </p:cNvPr>
          <p:cNvSpPr txBox="1"/>
          <p:nvPr/>
        </p:nvSpPr>
        <p:spPr>
          <a:xfrm>
            <a:off x="8769096" y="1380744"/>
            <a:ext cx="2468880" cy="160044"/>
          </a:xfrm>
          <a:prstGeom prst="rect">
            <a:avLst/>
          </a:prstGeom>
          <a:noFill/>
        </p:spPr>
        <p:txBody>
          <a:bodyPr vert="horz" lIns="36576" tIns="18288" rIns="36576" bIns="18288" rtlCol="0">
            <a:spAutoFit/>
          </a:bodyPr>
          <a:lstStyle/>
          <a:p>
            <a:r>
              <a:rPr lang="de-DE" sz="800" b="1">
                <a:solidFill>
                  <a:srgbClr val="E8B64B"/>
                </a:solidFill>
                <a:latin typeface="Aptos" panose="020B0004020202020204" pitchFamily="34" charset="0"/>
              </a:rPr>
              <a:t>AUTOMATED VALIDATION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B9DB8C78-19A9-3EE5-7A44-0E0AB6AF528A}"/>
              </a:ext>
            </a:extLst>
          </p:cNvPr>
          <p:cNvSpPr txBox="1"/>
          <p:nvPr/>
        </p:nvSpPr>
        <p:spPr>
          <a:xfrm>
            <a:off x="8769096" y="1645920"/>
            <a:ext cx="2441448" cy="190821"/>
          </a:xfrm>
          <a:prstGeom prst="rect">
            <a:avLst/>
          </a:prstGeom>
          <a:noFill/>
        </p:spPr>
        <p:txBody>
          <a:bodyPr vert="horz" lIns="36576" tIns="18288" rIns="36576" bIns="18288" rtlCol="0">
            <a:spAutoFit/>
          </a:bodyPr>
          <a:lstStyle/>
          <a:p>
            <a:r>
              <a:rPr lang="de-DE" sz="1000">
                <a:solidFill>
                  <a:srgbClr val="9CA9B6"/>
                </a:solidFill>
                <a:latin typeface="Aptos" panose="020B0004020202020204" pitchFamily="34" charset="0"/>
              </a:rPr>
              <a:t>pytest suite currently passes</a:t>
            </a:r>
          </a:p>
        </p:txBody>
      </p:sp>
      <p:sp>
        <p:nvSpPr>
          <p:cNvPr id="19" name="Rectangle: Rounded Corners 18">
            <a:extLst>
              <a:ext uri="{FF2B5EF4-FFF2-40B4-BE49-F238E27FC236}">
                <a16:creationId xmlns:a16="http://schemas.microsoft.com/office/drawing/2014/main" id="{C232E7C6-79B5-FBBD-7F43-DB0068A3E83A}"/>
              </a:ext>
            </a:extLst>
          </p:cNvPr>
          <p:cNvSpPr/>
          <p:nvPr/>
        </p:nvSpPr>
        <p:spPr>
          <a:xfrm>
            <a:off x="8549640" y="2331720"/>
            <a:ext cx="2788921" cy="1234440"/>
          </a:xfrm>
          <a:prstGeom prst="roundRect">
            <a:avLst/>
          </a:prstGeom>
          <a:solidFill>
            <a:srgbClr val="FFFFFF"/>
          </a:solidFill>
          <a:ln>
            <a:solidFill>
              <a:srgbClr val="D0DAE4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0DDE8082-D53E-4AE8-3C19-4923DAAEE8A7}"/>
              </a:ext>
            </a:extLst>
          </p:cNvPr>
          <p:cNvSpPr/>
          <p:nvPr/>
        </p:nvSpPr>
        <p:spPr>
          <a:xfrm>
            <a:off x="8549640" y="2331720"/>
            <a:ext cx="73152" cy="1234440"/>
          </a:xfrm>
          <a:prstGeom prst="rect">
            <a:avLst/>
          </a:prstGeom>
          <a:solidFill>
            <a:srgbClr val="187D9F"/>
          </a:solidFill>
          <a:ln>
            <a:solidFill>
              <a:srgbClr val="187D9F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AC08677E-6DC6-D3AD-3ECA-CBE0C112F431}"/>
              </a:ext>
            </a:extLst>
          </p:cNvPr>
          <p:cNvSpPr txBox="1"/>
          <p:nvPr/>
        </p:nvSpPr>
        <p:spPr>
          <a:xfrm>
            <a:off x="8750808" y="2496312"/>
            <a:ext cx="2468880" cy="390876"/>
          </a:xfrm>
          <a:prstGeom prst="rect">
            <a:avLst/>
          </a:prstGeom>
          <a:noFill/>
        </p:spPr>
        <p:txBody>
          <a:bodyPr vert="horz" lIns="36576" tIns="18288" rIns="36576" bIns="18288" rtlCol="0">
            <a:spAutoFit/>
          </a:bodyPr>
          <a:lstStyle/>
          <a:p>
            <a:r>
              <a:rPr lang="de-DE" sz="2300" b="1">
                <a:solidFill>
                  <a:srgbClr val="1D2530"/>
                </a:solidFill>
                <a:latin typeface="Aptos" panose="020B0004020202020204" pitchFamily="34" charset="0"/>
              </a:rPr>
              <a:t>demo_only</a:t>
            </a: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6F40629A-8B9C-3472-46B6-367C534B52EE}"/>
              </a:ext>
            </a:extLst>
          </p:cNvPr>
          <p:cNvSpPr txBox="1"/>
          <p:nvPr/>
        </p:nvSpPr>
        <p:spPr>
          <a:xfrm>
            <a:off x="8769096" y="2889504"/>
            <a:ext cx="2468880" cy="160044"/>
          </a:xfrm>
          <a:prstGeom prst="rect">
            <a:avLst/>
          </a:prstGeom>
          <a:noFill/>
        </p:spPr>
        <p:txBody>
          <a:bodyPr vert="horz" lIns="36576" tIns="18288" rIns="36576" bIns="18288" rtlCol="0">
            <a:spAutoFit/>
          </a:bodyPr>
          <a:lstStyle/>
          <a:p>
            <a:r>
              <a:rPr lang="de-DE" sz="800" b="1">
                <a:solidFill>
                  <a:srgbClr val="187D9F"/>
                </a:solidFill>
                <a:latin typeface="Aptos" panose="020B0004020202020204" pitchFamily="34" charset="0"/>
              </a:rPr>
              <a:t>TREND MODE</a:t>
            </a: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A5E71F1F-C8A3-79B6-3D77-155D3DC763DF}"/>
              </a:ext>
            </a:extLst>
          </p:cNvPr>
          <p:cNvSpPr txBox="1"/>
          <p:nvPr/>
        </p:nvSpPr>
        <p:spPr>
          <a:xfrm>
            <a:off x="8769096" y="3154680"/>
            <a:ext cx="2441448" cy="190821"/>
          </a:xfrm>
          <a:prstGeom prst="rect">
            <a:avLst/>
          </a:prstGeom>
          <a:noFill/>
        </p:spPr>
        <p:txBody>
          <a:bodyPr vert="horz" lIns="36576" tIns="18288" rIns="36576" bIns="18288" rtlCol="0">
            <a:spAutoFit/>
          </a:bodyPr>
          <a:lstStyle/>
          <a:p>
            <a:r>
              <a:rPr lang="en-US" sz="1000">
                <a:solidFill>
                  <a:srgbClr val="9CA9B6"/>
                </a:solidFill>
                <a:latin typeface="Aptos" panose="020B0004020202020204" pitchFamily="34" charset="0"/>
              </a:rPr>
              <a:t>data status is visible in every output</a:t>
            </a:r>
            <a:endParaRPr lang="de-DE" sz="1000">
              <a:solidFill>
                <a:srgbClr val="9CA9B6"/>
              </a:solidFill>
              <a:latin typeface="Aptos" panose="020B0004020202020204" pitchFamily="34" charset="0"/>
            </a:endParaRPr>
          </a:p>
        </p:txBody>
      </p:sp>
      <p:sp>
        <p:nvSpPr>
          <p:cNvPr id="24" name="Rectangle: Rounded Corners 23">
            <a:extLst>
              <a:ext uri="{FF2B5EF4-FFF2-40B4-BE49-F238E27FC236}">
                <a16:creationId xmlns:a16="http://schemas.microsoft.com/office/drawing/2014/main" id="{F503BCF9-2100-805A-DC57-879349AAE228}"/>
              </a:ext>
            </a:extLst>
          </p:cNvPr>
          <p:cNvSpPr/>
          <p:nvPr/>
        </p:nvSpPr>
        <p:spPr>
          <a:xfrm>
            <a:off x="8549640" y="3840480"/>
            <a:ext cx="2788921" cy="1234440"/>
          </a:xfrm>
          <a:prstGeom prst="roundRect">
            <a:avLst/>
          </a:prstGeom>
          <a:solidFill>
            <a:srgbClr val="FFFFFF"/>
          </a:solidFill>
          <a:ln>
            <a:solidFill>
              <a:srgbClr val="D0DAE4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25" name="Rectangle 24">
            <a:extLst>
              <a:ext uri="{FF2B5EF4-FFF2-40B4-BE49-F238E27FC236}">
                <a16:creationId xmlns:a16="http://schemas.microsoft.com/office/drawing/2014/main" id="{6F18FE99-595D-61BF-167F-87E4FB0C0439}"/>
              </a:ext>
            </a:extLst>
          </p:cNvPr>
          <p:cNvSpPr/>
          <p:nvPr/>
        </p:nvSpPr>
        <p:spPr>
          <a:xfrm>
            <a:off x="8549640" y="3840480"/>
            <a:ext cx="73152" cy="1234440"/>
          </a:xfrm>
          <a:prstGeom prst="rect">
            <a:avLst/>
          </a:prstGeom>
          <a:solidFill>
            <a:srgbClr val="5CA87A"/>
          </a:solidFill>
          <a:ln>
            <a:solidFill>
              <a:srgbClr val="5CA87A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D9694CC0-A15E-7022-5250-2DA8A55A4C3F}"/>
              </a:ext>
            </a:extLst>
          </p:cNvPr>
          <p:cNvSpPr txBox="1"/>
          <p:nvPr/>
        </p:nvSpPr>
        <p:spPr>
          <a:xfrm>
            <a:off x="8750808" y="4005072"/>
            <a:ext cx="2468880" cy="390876"/>
          </a:xfrm>
          <a:prstGeom prst="rect">
            <a:avLst/>
          </a:prstGeom>
          <a:noFill/>
        </p:spPr>
        <p:txBody>
          <a:bodyPr vert="horz" lIns="36576" tIns="18288" rIns="36576" bIns="18288" rtlCol="0">
            <a:spAutoFit/>
          </a:bodyPr>
          <a:lstStyle/>
          <a:p>
            <a:r>
              <a:rPr lang="de-DE" sz="2300" b="1">
                <a:solidFill>
                  <a:srgbClr val="1D2530"/>
                </a:solidFill>
                <a:latin typeface="Aptos" panose="020B0004020202020204" pitchFamily="34" charset="0"/>
              </a:rPr>
              <a:t>0 orders</a:t>
            </a: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332C1C5D-F403-6119-1736-A3540E0DF0AE}"/>
              </a:ext>
            </a:extLst>
          </p:cNvPr>
          <p:cNvSpPr txBox="1"/>
          <p:nvPr/>
        </p:nvSpPr>
        <p:spPr>
          <a:xfrm>
            <a:off x="8769096" y="4398264"/>
            <a:ext cx="2468880" cy="160044"/>
          </a:xfrm>
          <a:prstGeom prst="rect">
            <a:avLst/>
          </a:prstGeom>
          <a:noFill/>
        </p:spPr>
        <p:txBody>
          <a:bodyPr vert="horz" lIns="36576" tIns="18288" rIns="36576" bIns="18288" rtlCol="0">
            <a:spAutoFit/>
          </a:bodyPr>
          <a:lstStyle/>
          <a:p>
            <a:r>
              <a:rPr lang="de-DE" sz="800" b="1">
                <a:solidFill>
                  <a:srgbClr val="5CA87A"/>
                </a:solidFill>
                <a:latin typeface="Aptos" panose="020B0004020202020204" pitchFamily="34" charset="0"/>
              </a:rPr>
              <a:t>TRADING SCOPE</a:t>
            </a: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A9004D26-6EB6-50A8-E1D5-8554E3612F20}"/>
              </a:ext>
            </a:extLst>
          </p:cNvPr>
          <p:cNvSpPr txBox="1"/>
          <p:nvPr/>
        </p:nvSpPr>
        <p:spPr>
          <a:xfrm>
            <a:off x="8769096" y="4663440"/>
            <a:ext cx="2441448" cy="190821"/>
          </a:xfrm>
          <a:prstGeom prst="rect">
            <a:avLst/>
          </a:prstGeom>
          <a:noFill/>
        </p:spPr>
        <p:txBody>
          <a:bodyPr vert="horz" lIns="36576" tIns="18288" rIns="36576" bIns="18288" rtlCol="0">
            <a:spAutoFit/>
          </a:bodyPr>
          <a:lstStyle/>
          <a:p>
            <a:r>
              <a:rPr lang="de-DE" sz="1000">
                <a:solidFill>
                  <a:srgbClr val="9CA9B6"/>
                </a:solidFill>
                <a:latin typeface="Aptos" panose="020B0004020202020204" pitchFamily="34" charset="0"/>
              </a:rPr>
              <a:t>decision support only</a:t>
            </a:r>
          </a:p>
        </p:txBody>
      </p:sp>
      <p:cxnSp>
        <p:nvCxnSpPr>
          <p:cNvPr id="29" name="Straight Connector 28">
            <a:extLst>
              <a:ext uri="{FF2B5EF4-FFF2-40B4-BE49-F238E27FC236}">
                <a16:creationId xmlns:a16="http://schemas.microsoft.com/office/drawing/2014/main" id="{F64D518F-777E-1540-F248-E0860656FB19}"/>
              </a:ext>
            </a:extLst>
          </p:cNvPr>
          <p:cNvCxnSpPr/>
          <p:nvPr/>
        </p:nvCxnSpPr>
        <p:spPr>
          <a:xfrm>
            <a:off x="530352" y="6446520"/>
            <a:ext cx="11128248" cy="0"/>
          </a:xfrm>
          <a:prstGeom prst="line">
            <a:avLst/>
          </a:prstGeom>
          <a:ln w="10160">
            <a:solidFill>
              <a:srgbClr val="C4CED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0" name="TextBox 29">
            <a:extLst>
              <a:ext uri="{FF2B5EF4-FFF2-40B4-BE49-F238E27FC236}">
                <a16:creationId xmlns:a16="http://schemas.microsoft.com/office/drawing/2014/main" id="{B0EDD904-8F16-0C47-17A1-DD03C3B88851}"/>
              </a:ext>
            </a:extLst>
          </p:cNvPr>
          <p:cNvSpPr txBox="1"/>
          <p:nvPr/>
        </p:nvSpPr>
        <p:spPr>
          <a:xfrm>
            <a:off x="530352" y="6492240"/>
            <a:ext cx="6766560" cy="160044"/>
          </a:xfrm>
          <a:prstGeom prst="rect">
            <a:avLst/>
          </a:prstGeom>
          <a:noFill/>
        </p:spPr>
        <p:txBody>
          <a:bodyPr vert="horz" lIns="36576" tIns="18288" rIns="36576" bIns="18288" rtlCol="0">
            <a:spAutoFit/>
          </a:bodyPr>
          <a:lstStyle/>
          <a:p>
            <a:r>
              <a:rPr lang="en-US" sz="800">
                <a:solidFill>
                  <a:srgbClr val="9CA9B6"/>
                </a:solidFill>
                <a:latin typeface="Aptos" panose="020B0004020202020204" pitchFamily="34" charset="0"/>
              </a:rPr>
              <a:t>Decision support only · No autonomous trading · Not financial advice</a:t>
            </a:r>
            <a:endParaRPr lang="de-DE" sz="800">
              <a:solidFill>
                <a:srgbClr val="9CA9B6"/>
              </a:solidFill>
              <a:latin typeface="Aptos" panose="020B0004020202020204" pitchFamily="34" charset="0"/>
            </a:endParaRPr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F51E34DF-E42D-F141-FE71-D43435A5DEB3}"/>
              </a:ext>
            </a:extLst>
          </p:cNvPr>
          <p:cNvSpPr txBox="1"/>
          <p:nvPr/>
        </p:nvSpPr>
        <p:spPr>
          <a:xfrm>
            <a:off x="11201400" y="6492240"/>
            <a:ext cx="457200" cy="160044"/>
          </a:xfrm>
          <a:prstGeom prst="rect">
            <a:avLst/>
          </a:prstGeom>
          <a:noFill/>
        </p:spPr>
        <p:txBody>
          <a:bodyPr vert="horz" lIns="36576" tIns="18288" rIns="36576" bIns="18288" rtlCol="0">
            <a:spAutoFit/>
          </a:bodyPr>
          <a:lstStyle/>
          <a:p>
            <a:r>
              <a:rPr lang="de-DE" sz="800">
                <a:solidFill>
                  <a:srgbClr val="9CA9B6"/>
                </a:solidFill>
                <a:latin typeface="Aptos" panose="020B0004020202020204" pitchFamily="34" charset="0"/>
              </a:rPr>
              <a:t>1/5</a:t>
            </a:r>
          </a:p>
        </p:txBody>
      </p:sp>
    </p:spTree>
    <p:extLst>
      <p:ext uri="{BB962C8B-B14F-4D97-AF65-F5344CB8AC3E}">
        <p14:creationId xmlns:p14="http://schemas.microsoft.com/office/powerpoint/2010/main" val="197552529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2B4DB02D-40B6-E058-F460-6E638943CA0A}"/>
              </a:ext>
            </a:extLst>
          </p:cNvPr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EAF2F7"/>
          </a:solidFill>
          <a:ln>
            <a:solidFill>
              <a:srgbClr val="EAF2F7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D229F2EC-DF65-1CC1-BC49-61A32E70C170}"/>
              </a:ext>
            </a:extLst>
          </p:cNvPr>
          <p:cNvSpPr/>
          <p:nvPr/>
        </p:nvSpPr>
        <p:spPr>
          <a:xfrm>
            <a:off x="530352" y="411480"/>
            <a:ext cx="118872" cy="118872"/>
          </a:xfrm>
          <a:prstGeom prst="rect">
            <a:avLst/>
          </a:prstGeom>
          <a:solidFill>
            <a:srgbClr val="187D9F"/>
          </a:solidFill>
          <a:ln>
            <a:solidFill>
              <a:srgbClr val="187D9F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895C8E6F-D128-3572-B324-5A5E512DAF2B}"/>
              </a:ext>
            </a:extLst>
          </p:cNvPr>
          <p:cNvSpPr txBox="1"/>
          <p:nvPr/>
        </p:nvSpPr>
        <p:spPr>
          <a:xfrm>
            <a:off x="713232" y="338328"/>
            <a:ext cx="2926080" cy="190821"/>
          </a:xfrm>
          <a:prstGeom prst="rect">
            <a:avLst/>
          </a:prstGeom>
          <a:noFill/>
        </p:spPr>
        <p:txBody>
          <a:bodyPr vert="horz" lIns="36576" tIns="18288" rIns="36576" bIns="18288" rtlCol="0">
            <a:spAutoFit/>
          </a:bodyPr>
          <a:lstStyle/>
          <a:p>
            <a:r>
              <a:rPr lang="de-DE" sz="1000" b="1">
                <a:solidFill>
                  <a:srgbClr val="187D9F"/>
                </a:solidFill>
                <a:latin typeface="Aptos" panose="020B0004020202020204" pitchFamily="34" charset="0"/>
              </a:rPr>
              <a:t>SYSTEM FLOW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B5950980-4007-BE6A-6841-854CC080EAE0}"/>
              </a:ext>
            </a:extLst>
          </p:cNvPr>
          <p:cNvSpPr txBox="1"/>
          <p:nvPr/>
        </p:nvSpPr>
        <p:spPr>
          <a:xfrm>
            <a:off x="530352" y="658368"/>
            <a:ext cx="8458200" cy="898708"/>
          </a:xfrm>
          <a:prstGeom prst="rect">
            <a:avLst/>
          </a:prstGeom>
          <a:noFill/>
        </p:spPr>
        <p:txBody>
          <a:bodyPr vert="horz" lIns="36576" tIns="18288" rIns="36576" bIns="18288" rtlCol="0">
            <a:spAutoFit/>
          </a:bodyPr>
          <a:lstStyle/>
          <a:p>
            <a:r>
              <a:rPr lang="en-US" sz="2800" b="1">
                <a:solidFill>
                  <a:srgbClr val="1D2530"/>
                </a:solidFill>
                <a:latin typeface="Aptos" panose="020B0004020202020204" pitchFamily="34" charset="0"/>
              </a:rPr>
              <a:t>The prototype turns raw data into an explainable sector ranking.</a:t>
            </a:r>
            <a:endParaRPr lang="de-DE" sz="2800" b="1">
              <a:solidFill>
                <a:srgbClr val="1D2530"/>
              </a:solidFill>
              <a:latin typeface="Aptos" panose="020B0004020202020204" pitchFamily="34" charset="0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6E11FABB-ADAD-E39A-867A-B21B101876F9}"/>
              </a:ext>
            </a:extLst>
          </p:cNvPr>
          <p:cNvSpPr txBox="1"/>
          <p:nvPr/>
        </p:nvSpPr>
        <p:spPr>
          <a:xfrm>
            <a:off x="566928" y="1627632"/>
            <a:ext cx="8458200" cy="221599"/>
          </a:xfrm>
          <a:prstGeom prst="rect">
            <a:avLst/>
          </a:prstGeom>
          <a:noFill/>
        </p:spPr>
        <p:txBody>
          <a:bodyPr vert="horz" lIns="36576" tIns="18288" rIns="36576" bIns="18288" rtlCol="0">
            <a:spAutoFit/>
          </a:bodyPr>
          <a:lstStyle/>
          <a:p>
            <a:r>
              <a:rPr lang="de-DE" sz="1200">
                <a:solidFill>
                  <a:srgbClr val="9CA9B6"/>
                </a:solidFill>
                <a:latin typeface="Aptos" panose="020B0004020202020204" pitchFamily="34" charset="0"/>
              </a:rPr>
              <a:t>Pipeline command: python src/pipeline.py --trend-mode demo_only or --trend-mode auto</a:t>
            </a:r>
          </a:p>
        </p:txBody>
      </p:sp>
      <p:sp>
        <p:nvSpPr>
          <p:cNvPr id="7" name="Rectangle: Rounded Corners 6">
            <a:extLst>
              <a:ext uri="{FF2B5EF4-FFF2-40B4-BE49-F238E27FC236}">
                <a16:creationId xmlns:a16="http://schemas.microsoft.com/office/drawing/2014/main" id="{9EF2A3A2-1D3F-D56E-7377-0BC5D819E449}"/>
              </a:ext>
            </a:extLst>
          </p:cNvPr>
          <p:cNvSpPr/>
          <p:nvPr/>
        </p:nvSpPr>
        <p:spPr>
          <a:xfrm>
            <a:off x="685800" y="2148840"/>
            <a:ext cx="2148840" cy="1024128"/>
          </a:xfrm>
          <a:prstGeom prst="roundRect">
            <a:avLst/>
          </a:prstGeom>
          <a:solidFill>
            <a:srgbClr val="FFFFFF"/>
          </a:solidFill>
          <a:ln>
            <a:solidFill>
              <a:srgbClr val="D0DAE4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2323A21A-E792-7A60-5292-4662DF6822E2}"/>
              </a:ext>
            </a:extLst>
          </p:cNvPr>
          <p:cNvSpPr/>
          <p:nvPr/>
        </p:nvSpPr>
        <p:spPr>
          <a:xfrm>
            <a:off x="832104" y="2313432"/>
            <a:ext cx="146304" cy="146304"/>
          </a:xfrm>
          <a:prstGeom prst="rect">
            <a:avLst/>
          </a:prstGeom>
          <a:solidFill>
            <a:srgbClr val="E8B64B"/>
          </a:solidFill>
          <a:ln>
            <a:solidFill>
              <a:srgbClr val="E8B64B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43172D75-E5BB-491B-D813-86585B0A9856}"/>
              </a:ext>
            </a:extLst>
          </p:cNvPr>
          <p:cNvSpPr txBox="1"/>
          <p:nvPr/>
        </p:nvSpPr>
        <p:spPr>
          <a:xfrm>
            <a:off x="1069848" y="2258568"/>
            <a:ext cx="1645920" cy="236988"/>
          </a:xfrm>
          <a:prstGeom prst="rect">
            <a:avLst/>
          </a:prstGeom>
          <a:noFill/>
        </p:spPr>
        <p:txBody>
          <a:bodyPr vert="horz" lIns="36576" tIns="18288" rIns="36576" bIns="18288" rtlCol="0">
            <a:spAutoFit/>
          </a:bodyPr>
          <a:lstStyle/>
          <a:p>
            <a:r>
              <a:rPr lang="de-DE" sz="1300" b="1">
                <a:solidFill>
                  <a:srgbClr val="1D2530"/>
                </a:solidFill>
                <a:latin typeface="Aptos" panose="020B0004020202020204" pitchFamily="34" charset="0"/>
              </a:rPr>
              <a:t>Live market data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D322FA36-C3ED-6E9C-D673-F9D1CBD1D327}"/>
              </a:ext>
            </a:extLst>
          </p:cNvPr>
          <p:cNvSpPr txBox="1"/>
          <p:nvPr/>
        </p:nvSpPr>
        <p:spPr>
          <a:xfrm>
            <a:off x="1069848" y="2651760"/>
            <a:ext cx="1645920" cy="452432"/>
          </a:xfrm>
          <a:prstGeom prst="rect">
            <a:avLst/>
          </a:prstGeom>
          <a:noFill/>
        </p:spPr>
        <p:txBody>
          <a:bodyPr vert="horz" lIns="36576" tIns="18288" rIns="36576" bIns="18288" rtlCol="0">
            <a:spAutoFit/>
          </a:bodyPr>
          <a:lstStyle/>
          <a:p>
            <a:r>
              <a:rPr lang="en-US" sz="900">
                <a:solidFill>
                  <a:srgbClr val="9CA9B6"/>
                </a:solidFill>
                <a:latin typeface="Aptos" panose="020B0004020202020204" pitchFamily="34" charset="0"/>
              </a:rPr>
              <a:t>OHLCV prices and available ETF fundamentals loaded from yfinance.</a:t>
            </a:r>
            <a:endParaRPr lang="de-DE" sz="900">
              <a:solidFill>
                <a:srgbClr val="9CA9B6"/>
              </a:solidFill>
              <a:latin typeface="Aptos" panose="020B0004020202020204" pitchFamily="34" charset="0"/>
            </a:endParaRPr>
          </a:p>
        </p:txBody>
      </p:sp>
      <p:sp>
        <p:nvSpPr>
          <p:cNvPr id="11" name="Rectangle: Rounded Corners 10">
            <a:extLst>
              <a:ext uri="{FF2B5EF4-FFF2-40B4-BE49-F238E27FC236}">
                <a16:creationId xmlns:a16="http://schemas.microsoft.com/office/drawing/2014/main" id="{AAFDD9B7-B49E-9AD4-529A-2F66D0BCA830}"/>
              </a:ext>
            </a:extLst>
          </p:cNvPr>
          <p:cNvSpPr/>
          <p:nvPr/>
        </p:nvSpPr>
        <p:spPr>
          <a:xfrm>
            <a:off x="3063240" y="2148840"/>
            <a:ext cx="2148840" cy="1024128"/>
          </a:xfrm>
          <a:prstGeom prst="roundRect">
            <a:avLst/>
          </a:prstGeom>
          <a:solidFill>
            <a:srgbClr val="FFFFFF"/>
          </a:solidFill>
          <a:ln>
            <a:solidFill>
              <a:srgbClr val="D0DAE4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2B5BB093-F414-26BC-F95E-608C4BDB958D}"/>
              </a:ext>
            </a:extLst>
          </p:cNvPr>
          <p:cNvSpPr/>
          <p:nvPr/>
        </p:nvSpPr>
        <p:spPr>
          <a:xfrm>
            <a:off x="3209544" y="2313432"/>
            <a:ext cx="146304" cy="146304"/>
          </a:xfrm>
          <a:prstGeom prst="rect">
            <a:avLst/>
          </a:prstGeom>
          <a:solidFill>
            <a:srgbClr val="187D9F"/>
          </a:solidFill>
          <a:ln>
            <a:solidFill>
              <a:srgbClr val="187D9F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22CA58C1-DB6B-7EC0-BA37-E077A321CA34}"/>
              </a:ext>
            </a:extLst>
          </p:cNvPr>
          <p:cNvSpPr txBox="1"/>
          <p:nvPr/>
        </p:nvSpPr>
        <p:spPr>
          <a:xfrm>
            <a:off x="3447288" y="2258568"/>
            <a:ext cx="1645920" cy="236988"/>
          </a:xfrm>
          <a:prstGeom prst="rect">
            <a:avLst/>
          </a:prstGeom>
          <a:noFill/>
        </p:spPr>
        <p:txBody>
          <a:bodyPr vert="horz" lIns="36576" tIns="18288" rIns="36576" bIns="18288" rtlCol="0">
            <a:spAutoFit/>
          </a:bodyPr>
          <a:lstStyle/>
          <a:p>
            <a:r>
              <a:rPr lang="de-DE" sz="1300" b="1">
                <a:solidFill>
                  <a:srgbClr val="1D2530"/>
                </a:solidFill>
                <a:latin typeface="Aptos" panose="020B0004020202020204" pitchFamily="34" charset="0"/>
              </a:rPr>
              <a:t>Trend acquisition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FCED0EFC-8440-EFA3-E12B-04D44579D0DC}"/>
              </a:ext>
            </a:extLst>
          </p:cNvPr>
          <p:cNvSpPr txBox="1"/>
          <p:nvPr/>
        </p:nvSpPr>
        <p:spPr>
          <a:xfrm>
            <a:off x="3447288" y="2651760"/>
            <a:ext cx="1645920" cy="590931"/>
          </a:xfrm>
          <a:prstGeom prst="rect">
            <a:avLst/>
          </a:prstGeom>
          <a:noFill/>
        </p:spPr>
        <p:txBody>
          <a:bodyPr vert="horz" lIns="36576" tIns="18288" rIns="36576" bIns="18288" rtlCol="0">
            <a:spAutoFit/>
          </a:bodyPr>
          <a:lstStyle/>
          <a:p>
            <a:r>
              <a:rPr lang="en-US" sz="900">
                <a:solidFill>
                  <a:srgbClr val="9CA9B6"/>
                </a:solidFill>
                <a:latin typeface="Aptos" panose="020B0004020202020204" pitchFamily="34" charset="0"/>
              </a:rPr>
              <a:t>Google Trends live/cache/demo/fallback strategy with visible source status.</a:t>
            </a:r>
            <a:endParaRPr lang="de-DE" sz="900">
              <a:solidFill>
                <a:srgbClr val="9CA9B6"/>
              </a:solidFill>
              <a:latin typeface="Aptos" panose="020B0004020202020204" pitchFamily="34" charset="0"/>
            </a:endParaRPr>
          </a:p>
        </p:txBody>
      </p:sp>
      <p:sp>
        <p:nvSpPr>
          <p:cNvPr id="15" name="Rectangle: Rounded Corners 14">
            <a:extLst>
              <a:ext uri="{FF2B5EF4-FFF2-40B4-BE49-F238E27FC236}">
                <a16:creationId xmlns:a16="http://schemas.microsoft.com/office/drawing/2014/main" id="{EC09FBF6-70C5-6CBB-587D-D6E9F0213A1C}"/>
              </a:ext>
            </a:extLst>
          </p:cNvPr>
          <p:cNvSpPr/>
          <p:nvPr/>
        </p:nvSpPr>
        <p:spPr>
          <a:xfrm>
            <a:off x="5440680" y="2148840"/>
            <a:ext cx="2148840" cy="1024128"/>
          </a:xfrm>
          <a:prstGeom prst="roundRect">
            <a:avLst/>
          </a:prstGeom>
          <a:solidFill>
            <a:srgbClr val="FFFFFF"/>
          </a:solidFill>
          <a:ln>
            <a:solidFill>
              <a:srgbClr val="D0DAE4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7D6314D8-98D4-28A4-6A2C-7B4A4E9DD944}"/>
              </a:ext>
            </a:extLst>
          </p:cNvPr>
          <p:cNvSpPr/>
          <p:nvPr/>
        </p:nvSpPr>
        <p:spPr>
          <a:xfrm>
            <a:off x="5586984" y="2313432"/>
            <a:ext cx="146304" cy="146304"/>
          </a:xfrm>
          <a:prstGeom prst="rect">
            <a:avLst/>
          </a:prstGeom>
          <a:solidFill>
            <a:srgbClr val="C86435"/>
          </a:solidFill>
          <a:ln>
            <a:solidFill>
              <a:srgbClr val="C86435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9FD8DCD6-1D7E-642B-921A-43B15685F8E3}"/>
              </a:ext>
            </a:extLst>
          </p:cNvPr>
          <p:cNvSpPr txBox="1"/>
          <p:nvPr/>
        </p:nvSpPr>
        <p:spPr>
          <a:xfrm>
            <a:off x="5824728" y="2258568"/>
            <a:ext cx="1645920" cy="236988"/>
          </a:xfrm>
          <a:prstGeom prst="rect">
            <a:avLst/>
          </a:prstGeom>
          <a:noFill/>
        </p:spPr>
        <p:txBody>
          <a:bodyPr vert="horz" lIns="36576" tIns="18288" rIns="36576" bIns="18288" rtlCol="0">
            <a:spAutoFit/>
          </a:bodyPr>
          <a:lstStyle/>
          <a:p>
            <a:r>
              <a:rPr lang="de-DE" sz="1300" b="1">
                <a:solidFill>
                  <a:srgbClr val="1D2530"/>
                </a:solidFill>
                <a:latin typeface="Aptos" panose="020B0004020202020204" pitchFamily="34" charset="0"/>
              </a:rPr>
              <a:t>Feature engineering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1B2FD14C-9A4C-6B44-E67C-2B4BDAE3C079}"/>
              </a:ext>
            </a:extLst>
          </p:cNvPr>
          <p:cNvSpPr txBox="1"/>
          <p:nvPr/>
        </p:nvSpPr>
        <p:spPr>
          <a:xfrm>
            <a:off x="5824728" y="2651760"/>
            <a:ext cx="1645920" cy="452432"/>
          </a:xfrm>
          <a:prstGeom prst="rect">
            <a:avLst/>
          </a:prstGeom>
          <a:noFill/>
        </p:spPr>
        <p:txBody>
          <a:bodyPr vert="horz" lIns="36576" tIns="18288" rIns="36576" bIns="18288" rtlCol="0">
            <a:spAutoFit/>
          </a:bodyPr>
          <a:lstStyle/>
          <a:p>
            <a:r>
              <a:rPr lang="en-US" sz="900">
                <a:solidFill>
                  <a:srgbClr val="9CA9B6"/>
                </a:solidFill>
                <a:latin typeface="Aptos" panose="020B0004020202020204" pitchFamily="34" charset="0"/>
              </a:rPr>
              <a:t>Momentum, volatility, drawdown, volume, valuation, yield, and trend features.</a:t>
            </a:r>
            <a:endParaRPr lang="de-DE" sz="900">
              <a:solidFill>
                <a:srgbClr val="9CA9B6"/>
              </a:solidFill>
              <a:latin typeface="Aptos" panose="020B0004020202020204" pitchFamily="34" charset="0"/>
            </a:endParaRPr>
          </a:p>
        </p:txBody>
      </p:sp>
      <p:sp>
        <p:nvSpPr>
          <p:cNvPr id="19" name="Rectangle: Rounded Corners 18">
            <a:extLst>
              <a:ext uri="{FF2B5EF4-FFF2-40B4-BE49-F238E27FC236}">
                <a16:creationId xmlns:a16="http://schemas.microsoft.com/office/drawing/2014/main" id="{1B9A68F2-27C7-A35A-3230-F64286DA6AB2}"/>
              </a:ext>
            </a:extLst>
          </p:cNvPr>
          <p:cNvSpPr/>
          <p:nvPr/>
        </p:nvSpPr>
        <p:spPr>
          <a:xfrm>
            <a:off x="7818120" y="2148840"/>
            <a:ext cx="2148840" cy="1024128"/>
          </a:xfrm>
          <a:prstGeom prst="roundRect">
            <a:avLst/>
          </a:prstGeom>
          <a:solidFill>
            <a:srgbClr val="FFFFFF"/>
          </a:solidFill>
          <a:ln>
            <a:solidFill>
              <a:srgbClr val="D0DAE4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AF3ED297-C327-EFF9-0B47-C487018B45E1}"/>
              </a:ext>
            </a:extLst>
          </p:cNvPr>
          <p:cNvSpPr/>
          <p:nvPr/>
        </p:nvSpPr>
        <p:spPr>
          <a:xfrm>
            <a:off x="7964424" y="2313432"/>
            <a:ext cx="146304" cy="146304"/>
          </a:xfrm>
          <a:prstGeom prst="rect">
            <a:avLst/>
          </a:prstGeom>
          <a:solidFill>
            <a:srgbClr val="5CA87A"/>
          </a:solidFill>
          <a:ln>
            <a:solidFill>
              <a:srgbClr val="5CA87A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62CED13A-B370-4B4E-C467-C2C98EF6D493}"/>
              </a:ext>
            </a:extLst>
          </p:cNvPr>
          <p:cNvSpPr txBox="1"/>
          <p:nvPr/>
        </p:nvSpPr>
        <p:spPr>
          <a:xfrm>
            <a:off x="8202168" y="2258568"/>
            <a:ext cx="1645920" cy="236988"/>
          </a:xfrm>
          <a:prstGeom prst="rect">
            <a:avLst/>
          </a:prstGeom>
          <a:noFill/>
        </p:spPr>
        <p:txBody>
          <a:bodyPr vert="horz" lIns="36576" tIns="18288" rIns="36576" bIns="18288" rtlCol="0">
            <a:spAutoFit/>
          </a:bodyPr>
          <a:lstStyle/>
          <a:p>
            <a:r>
              <a:rPr lang="de-DE" sz="1300" b="1">
                <a:solidFill>
                  <a:srgbClr val="1D2530"/>
                </a:solidFill>
                <a:latin typeface="Aptos" panose="020B0004020202020204" pitchFamily="34" charset="0"/>
              </a:rPr>
              <a:t>Scoring layer</a:t>
            </a: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3C28CDE6-01F1-69FA-71A3-03CED82EBDA1}"/>
              </a:ext>
            </a:extLst>
          </p:cNvPr>
          <p:cNvSpPr txBox="1"/>
          <p:nvPr/>
        </p:nvSpPr>
        <p:spPr>
          <a:xfrm>
            <a:off x="8202168" y="2651760"/>
            <a:ext cx="1645920" cy="452432"/>
          </a:xfrm>
          <a:prstGeom prst="rect">
            <a:avLst/>
          </a:prstGeom>
          <a:noFill/>
        </p:spPr>
        <p:txBody>
          <a:bodyPr vert="horz" lIns="36576" tIns="18288" rIns="36576" bIns="18288" rtlCol="0">
            <a:spAutoFit/>
          </a:bodyPr>
          <a:lstStyle/>
          <a:p>
            <a:r>
              <a:rPr lang="en-US" sz="900">
                <a:solidFill>
                  <a:srgbClr val="9CA9B6"/>
                </a:solidFill>
                <a:latin typeface="Aptos" panose="020B0004020202020204" pitchFamily="34" charset="0"/>
              </a:rPr>
              <a:t>Relative trend, momentum, risk, fundamental, synergy, and confidence scores.</a:t>
            </a:r>
            <a:endParaRPr lang="de-DE" sz="900">
              <a:solidFill>
                <a:srgbClr val="9CA9B6"/>
              </a:solidFill>
              <a:latin typeface="Aptos" panose="020B0004020202020204" pitchFamily="34" charset="0"/>
            </a:endParaRPr>
          </a:p>
        </p:txBody>
      </p:sp>
      <p:sp>
        <p:nvSpPr>
          <p:cNvPr id="23" name="Rectangle: Rounded Corners 22">
            <a:extLst>
              <a:ext uri="{FF2B5EF4-FFF2-40B4-BE49-F238E27FC236}">
                <a16:creationId xmlns:a16="http://schemas.microsoft.com/office/drawing/2014/main" id="{D7868330-5427-A22C-73EE-C6512A8849AF}"/>
              </a:ext>
            </a:extLst>
          </p:cNvPr>
          <p:cNvSpPr/>
          <p:nvPr/>
        </p:nvSpPr>
        <p:spPr>
          <a:xfrm>
            <a:off x="4754880" y="4251960"/>
            <a:ext cx="3017520" cy="1024128"/>
          </a:xfrm>
          <a:prstGeom prst="roundRect">
            <a:avLst/>
          </a:prstGeom>
          <a:solidFill>
            <a:srgbClr val="FFFFFF"/>
          </a:solidFill>
          <a:ln>
            <a:solidFill>
              <a:srgbClr val="D0DAE4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24" name="Rectangle 23">
            <a:extLst>
              <a:ext uri="{FF2B5EF4-FFF2-40B4-BE49-F238E27FC236}">
                <a16:creationId xmlns:a16="http://schemas.microsoft.com/office/drawing/2014/main" id="{5F549F85-2A3E-9238-0006-63E15B0B81B4}"/>
              </a:ext>
            </a:extLst>
          </p:cNvPr>
          <p:cNvSpPr/>
          <p:nvPr/>
        </p:nvSpPr>
        <p:spPr>
          <a:xfrm>
            <a:off x="4901184" y="4416552"/>
            <a:ext cx="146304" cy="146304"/>
          </a:xfrm>
          <a:prstGeom prst="rect">
            <a:avLst/>
          </a:prstGeom>
          <a:solidFill>
            <a:srgbClr val="0F1B2B"/>
          </a:solidFill>
          <a:ln>
            <a:solidFill>
              <a:srgbClr val="0F1B2B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6CFB17F9-9A95-A2CF-8A81-E649041E434D}"/>
              </a:ext>
            </a:extLst>
          </p:cNvPr>
          <p:cNvSpPr txBox="1"/>
          <p:nvPr/>
        </p:nvSpPr>
        <p:spPr>
          <a:xfrm>
            <a:off x="5138928" y="4361688"/>
            <a:ext cx="2514600" cy="236988"/>
          </a:xfrm>
          <a:prstGeom prst="rect">
            <a:avLst/>
          </a:prstGeom>
          <a:noFill/>
        </p:spPr>
        <p:txBody>
          <a:bodyPr vert="horz" lIns="36576" tIns="18288" rIns="36576" bIns="18288" rtlCol="0">
            <a:spAutoFit/>
          </a:bodyPr>
          <a:lstStyle/>
          <a:p>
            <a:r>
              <a:rPr lang="de-DE" sz="1300" b="1">
                <a:solidFill>
                  <a:srgbClr val="1D2530"/>
                </a:solidFill>
                <a:latin typeface="Aptos" panose="020B0004020202020204" pitchFamily="34" charset="0"/>
              </a:rPr>
              <a:t>Analyst outputs</a:t>
            </a: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A438E3A8-0C15-3B2E-60E8-C0936DE0FDE6}"/>
              </a:ext>
            </a:extLst>
          </p:cNvPr>
          <p:cNvSpPr txBox="1"/>
          <p:nvPr/>
        </p:nvSpPr>
        <p:spPr>
          <a:xfrm>
            <a:off x="5138928" y="4754880"/>
            <a:ext cx="2514600" cy="313932"/>
          </a:xfrm>
          <a:prstGeom prst="rect">
            <a:avLst/>
          </a:prstGeom>
          <a:noFill/>
        </p:spPr>
        <p:txBody>
          <a:bodyPr vert="horz" lIns="36576" tIns="18288" rIns="36576" bIns="18288" rtlCol="0">
            <a:spAutoFit/>
          </a:bodyPr>
          <a:lstStyle/>
          <a:p>
            <a:r>
              <a:rPr lang="en-US" sz="900">
                <a:solidFill>
                  <a:srgbClr val="9CA9B6"/>
                </a:solidFill>
                <a:latin typeface="Aptos" panose="020B0004020202020204" pitchFamily="34" charset="0"/>
              </a:rPr>
              <a:t>CSV, Streamlit dashboard, HTML report, verification, and backtest artifacts.</a:t>
            </a:r>
            <a:endParaRPr lang="de-DE" sz="900">
              <a:solidFill>
                <a:srgbClr val="9CA9B6"/>
              </a:solidFill>
              <a:latin typeface="Aptos" panose="020B0004020202020204" pitchFamily="34" charset="0"/>
            </a:endParaRPr>
          </a:p>
        </p:txBody>
      </p:sp>
      <p:cxnSp>
        <p:nvCxnSpPr>
          <p:cNvPr id="27" name="Straight Connector 26">
            <a:extLst>
              <a:ext uri="{FF2B5EF4-FFF2-40B4-BE49-F238E27FC236}">
                <a16:creationId xmlns:a16="http://schemas.microsoft.com/office/drawing/2014/main" id="{702A17AA-3DCE-D3D1-5A01-50193B90E232}"/>
              </a:ext>
            </a:extLst>
          </p:cNvPr>
          <p:cNvCxnSpPr/>
          <p:nvPr/>
        </p:nvCxnSpPr>
        <p:spPr>
          <a:xfrm>
            <a:off x="2852928" y="2660904"/>
            <a:ext cx="201168" cy="0"/>
          </a:xfrm>
          <a:prstGeom prst="line">
            <a:avLst/>
          </a:prstGeom>
          <a:ln w="25400">
            <a:solidFill>
              <a:srgbClr val="187D9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8" name="Straight Connector 27">
            <a:extLst>
              <a:ext uri="{FF2B5EF4-FFF2-40B4-BE49-F238E27FC236}">
                <a16:creationId xmlns:a16="http://schemas.microsoft.com/office/drawing/2014/main" id="{E4ED6D80-40E0-F7C3-D961-B3A6BB8F6A60}"/>
              </a:ext>
            </a:extLst>
          </p:cNvPr>
          <p:cNvCxnSpPr/>
          <p:nvPr/>
        </p:nvCxnSpPr>
        <p:spPr>
          <a:xfrm>
            <a:off x="5230368" y="2660904"/>
            <a:ext cx="201168" cy="0"/>
          </a:xfrm>
          <a:prstGeom prst="line">
            <a:avLst/>
          </a:prstGeom>
          <a:ln w="25400">
            <a:solidFill>
              <a:srgbClr val="187D9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9" name="Straight Connector 28">
            <a:extLst>
              <a:ext uri="{FF2B5EF4-FFF2-40B4-BE49-F238E27FC236}">
                <a16:creationId xmlns:a16="http://schemas.microsoft.com/office/drawing/2014/main" id="{D905A62C-694E-5B46-1F59-0EAAB30DE96B}"/>
              </a:ext>
            </a:extLst>
          </p:cNvPr>
          <p:cNvCxnSpPr/>
          <p:nvPr/>
        </p:nvCxnSpPr>
        <p:spPr>
          <a:xfrm>
            <a:off x="7607808" y="2660904"/>
            <a:ext cx="201168" cy="0"/>
          </a:xfrm>
          <a:prstGeom prst="line">
            <a:avLst/>
          </a:prstGeom>
          <a:ln w="25400">
            <a:solidFill>
              <a:srgbClr val="187D9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0" name="Straight Connector 29">
            <a:extLst>
              <a:ext uri="{FF2B5EF4-FFF2-40B4-BE49-F238E27FC236}">
                <a16:creationId xmlns:a16="http://schemas.microsoft.com/office/drawing/2014/main" id="{2719A5DB-9849-CCF7-3270-94FABAFF0533}"/>
              </a:ext>
            </a:extLst>
          </p:cNvPr>
          <p:cNvCxnSpPr/>
          <p:nvPr/>
        </p:nvCxnSpPr>
        <p:spPr>
          <a:xfrm flipH="1">
            <a:off x="6446520" y="3200400"/>
            <a:ext cx="2468880" cy="1051560"/>
          </a:xfrm>
          <a:prstGeom prst="line">
            <a:avLst/>
          </a:prstGeom>
          <a:ln w="25400">
            <a:solidFill>
              <a:srgbClr val="187D9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1" name="Straight Connector 30">
            <a:extLst>
              <a:ext uri="{FF2B5EF4-FFF2-40B4-BE49-F238E27FC236}">
                <a16:creationId xmlns:a16="http://schemas.microsoft.com/office/drawing/2014/main" id="{8C62B095-0BE9-CCCE-F007-AFF447501667}"/>
              </a:ext>
            </a:extLst>
          </p:cNvPr>
          <p:cNvCxnSpPr/>
          <p:nvPr/>
        </p:nvCxnSpPr>
        <p:spPr>
          <a:xfrm>
            <a:off x="1737360" y="3200400"/>
            <a:ext cx="4434840" cy="1051560"/>
          </a:xfrm>
          <a:prstGeom prst="line">
            <a:avLst/>
          </a:prstGeom>
          <a:ln w="25400">
            <a:solidFill>
              <a:srgbClr val="187D9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2" name="TextBox 31">
            <a:extLst>
              <a:ext uri="{FF2B5EF4-FFF2-40B4-BE49-F238E27FC236}">
                <a16:creationId xmlns:a16="http://schemas.microsoft.com/office/drawing/2014/main" id="{A529B26F-2F17-436C-C11A-FA5067DF2E7C}"/>
              </a:ext>
            </a:extLst>
          </p:cNvPr>
          <p:cNvSpPr txBox="1"/>
          <p:nvPr/>
        </p:nvSpPr>
        <p:spPr>
          <a:xfrm>
            <a:off x="841248" y="5623560"/>
            <a:ext cx="10241280" cy="437043"/>
          </a:xfrm>
          <a:prstGeom prst="rect">
            <a:avLst/>
          </a:prstGeom>
          <a:noFill/>
        </p:spPr>
        <p:txBody>
          <a:bodyPr vert="horz" lIns="36576" tIns="18288" rIns="36576" bIns="18288" rtlCol="0">
            <a:spAutoFit/>
          </a:bodyPr>
          <a:lstStyle/>
          <a:p>
            <a:r>
              <a:rPr lang="en-US" sz="1300" b="1">
                <a:solidFill>
                  <a:srgbClr val="1D2530"/>
                </a:solidFill>
                <a:latin typeface="Aptos" panose="020B0004020202020204" pitchFamily="34" charset="0"/>
              </a:rPr>
              <a:t>Key design choice: failures are made visible instead of hidden. If Google Trends is unavailable, the system marks demo/fallback status and caps actionability.</a:t>
            </a:r>
            <a:endParaRPr lang="de-DE" sz="1300" b="1">
              <a:solidFill>
                <a:srgbClr val="1D2530"/>
              </a:solidFill>
              <a:latin typeface="Aptos" panose="020B0004020202020204" pitchFamily="34" charset="0"/>
            </a:endParaRPr>
          </a:p>
        </p:txBody>
      </p:sp>
      <p:cxnSp>
        <p:nvCxnSpPr>
          <p:cNvPr id="33" name="Straight Connector 32">
            <a:extLst>
              <a:ext uri="{FF2B5EF4-FFF2-40B4-BE49-F238E27FC236}">
                <a16:creationId xmlns:a16="http://schemas.microsoft.com/office/drawing/2014/main" id="{512B5C02-F4DA-2F42-830F-76015C06CCD7}"/>
              </a:ext>
            </a:extLst>
          </p:cNvPr>
          <p:cNvCxnSpPr/>
          <p:nvPr/>
        </p:nvCxnSpPr>
        <p:spPr>
          <a:xfrm>
            <a:off x="530352" y="6446520"/>
            <a:ext cx="11128248" cy="0"/>
          </a:xfrm>
          <a:prstGeom prst="line">
            <a:avLst/>
          </a:prstGeom>
          <a:ln w="10160">
            <a:solidFill>
              <a:srgbClr val="C4CED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4" name="TextBox 33">
            <a:extLst>
              <a:ext uri="{FF2B5EF4-FFF2-40B4-BE49-F238E27FC236}">
                <a16:creationId xmlns:a16="http://schemas.microsoft.com/office/drawing/2014/main" id="{88331D92-99ED-B196-5942-C5A016F763C8}"/>
              </a:ext>
            </a:extLst>
          </p:cNvPr>
          <p:cNvSpPr txBox="1"/>
          <p:nvPr/>
        </p:nvSpPr>
        <p:spPr>
          <a:xfrm>
            <a:off x="530352" y="6492240"/>
            <a:ext cx="6766560" cy="160044"/>
          </a:xfrm>
          <a:prstGeom prst="rect">
            <a:avLst/>
          </a:prstGeom>
          <a:noFill/>
        </p:spPr>
        <p:txBody>
          <a:bodyPr vert="horz" lIns="36576" tIns="18288" rIns="36576" bIns="18288" rtlCol="0">
            <a:spAutoFit/>
          </a:bodyPr>
          <a:lstStyle/>
          <a:p>
            <a:r>
              <a:rPr lang="en-US" sz="800">
                <a:solidFill>
                  <a:srgbClr val="9CA9B6"/>
                </a:solidFill>
                <a:latin typeface="Aptos" panose="020B0004020202020204" pitchFamily="34" charset="0"/>
              </a:rPr>
              <a:t>Decision support only · No autonomous trading · Not financial advice</a:t>
            </a:r>
            <a:endParaRPr lang="de-DE" sz="800">
              <a:solidFill>
                <a:srgbClr val="9CA9B6"/>
              </a:solidFill>
              <a:latin typeface="Aptos" panose="020B0004020202020204" pitchFamily="34" charset="0"/>
            </a:endParaRPr>
          </a:p>
        </p:txBody>
      </p:sp>
      <p:sp>
        <p:nvSpPr>
          <p:cNvPr id="35" name="TextBox 34">
            <a:extLst>
              <a:ext uri="{FF2B5EF4-FFF2-40B4-BE49-F238E27FC236}">
                <a16:creationId xmlns:a16="http://schemas.microsoft.com/office/drawing/2014/main" id="{4716BBE7-489B-191A-7EF4-95DD6C7B9CFB}"/>
              </a:ext>
            </a:extLst>
          </p:cNvPr>
          <p:cNvSpPr txBox="1"/>
          <p:nvPr/>
        </p:nvSpPr>
        <p:spPr>
          <a:xfrm>
            <a:off x="11201400" y="6492240"/>
            <a:ext cx="457200" cy="160044"/>
          </a:xfrm>
          <a:prstGeom prst="rect">
            <a:avLst/>
          </a:prstGeom>
          <a:noFill/>
        </p:spPr>
        <p:txBody>
          <a:bodyPr vert="horz" lIns="36576" tIns="18288" rIns="36576" bIns="18288" rtlCol="0">
            <a:spAutoFit/>
          </a:bodyPr>
          <a:lstStyle/>
          <a:p>
            <a:r>
              <a:rPr lang="de-DE" sz="800">
                <a:solidFill>
                  <a:srgbClr val="9CA9B6"/>
                </a:solidFill>
                <a:latin typeface="Aptos" panose="020B0004020202020204" pitchFamily="34" charset="0"/>
              </a:rPr>
              <a:t>2/5</a:t>
            </a:r>
          </a:p>
        </p:txBody>
      </p:sp>
    </p:spTree>
    <p:extLst>
      <p:ext uri="{BB962C8B-B14F-4D97-AF65-F5344CB8AC3E}">
        <p14:creationId xmlns:p14="http://schemas.microsoft.com/office/powerpoint/2010/main" val="159002849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B6942C61-E1F3-B4D2-A3B8-8E2524DA8E97}"/>
              </a:ext>
            </a:extLst>
          </p:cNvPr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EAF2F7"/>
          </a:solidFill>
          <a:ln>
            <a:solidFill>
              <a:srgbClr val="EAF2F7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619EC0ED-EA0C-1917-6665-10908FC83CFD}"/>
              </a:ext>
            </a:extLst>
          </p:cNvPr>
          <p:cNvSpPr/>
          <p:nvPr/>
        </p:nvSpPr>
        <p:spPr>
          <a:xfrm>
            <a:off x="530352" y="411480"/>
            <a:ext cx="118872" cy="118872"/>
          </a:xfrm>
          <a:prstGeom prst="rect">
            <a:avLst/>
          </a:prstGeom>
          <a:solidFill>
            <a:srgbClr val="187D9F"/>
          </a:solidFill>
          <a:ln>
            <a:solidFill>
              <a:srgbClr val="187D9F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620F4336-611F-86CF-A183-8ED0490B5D14}"/>
              </a:ext>
            </a:extLst>
          </p:cNvPr>
          <p:cNvSpPr txBox="1"/>
          <p:nvPr/>
        </p:nvSpPr>
        <p:spPr>
          <a:xfrm>
            <a:off x="713232" y="338328"/>
            <a:ext cx="2926080" cy="190821"/>
          </a:xfrm>
          <a:prstGeom prst="rect">
            <a:avLst/>
          </a:prstGeom>
          <a:noFill/>
        </p:spPr>
        <p:txBody>
          <a:bodyPr vert="horz" lIns="36576" tIns="18288" rIns="36576" bIns="18288" rtlCol="0">
            <a:spAutoFit/>
          </a:bodyPr>
          <a:lstStyle/>
          <a:p>
            <a:r>
              <a:rPr lang="de-DE" sz="1000" b="1">
                <a:solidFill>
                  <a:srgbClr val="187D9F"/>
                </a:solidFill>
                <a:latin typeface="Aptos" panose="020B0004020202020204" pitchFamily="34" charset="0"/>
              </a:rPr>
              <a:t>SCORING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40ECA818-92BF-9159-6046-2633458B1137}"/>
              </a:ext>
            </a:extLst>
          </p:cNvPr>
          <p:cNvSpPr txBox="1"/>
          <p:nvPr/>
        </p:nvSpPr>
        <p:spPr>
          <a:xfrm>
            <a:off x="530352" y="658368"/>
            <a:ext cx="8458200" cy="898708"/>
          </a:xfrm>
          <a:prstGeom prst="rect">
            <a:avLst/>
          </a:prstGeom>
          <a:noFill/>
        </p:spPr>
        <p:txBody>
          <a:bodyPr vert="horz" lIns="36576" tIns="18288" rIns="36576" bIns="18288" rtlCol="0">
            <a:spAutoFit/>
          </a:bodyPr>
          <a:lstStyle/>
          <a:p>
            <a:r>
              <a:rPr lang="en-US" sz="2800" b="1">
                <a:solidFill>
                  <a:srgbClr val="1D2530"/>
                </a:solidFill>
                <a:latin typeface="Aptos" panose="020B0004020202020204" pitchFamily="34" charset="0"/>
              </a:rPr>
              <a:t>Scores are explainable and deliberately constrained by data quality.</a:t>
            </a:r>
            <a:endParaRPr lang="de-DE" sz="2800" b="1">
              <a:solidFill>
                <a:srgbClr val="1D2530"/>
              </a:solidFill>
              <a:latin typeface="Aptos" panose="020B0004020202020204" pitchFamily="34" charset="0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2E1205E6-3CDA-9447-DA25-1BD8E09A90D4}"/>
              </a:ext>
            </a:extLst>
          </p:cNvPr>
          <p:cNvSpPr txBox="1"/>
          <p:nvPr/>
        </p:nvSpPr>
        <p:spPr>
          <a:xfrm>
            <a:off x="566928" y="1627632"/>
            <a:ext cx="8458200" cy="221599"/>
          </a:xfrm>
          <a:prstGeom prst="rect">
            <a:avLst/>
          </a:prstGeom>
          <a:noFill/>
        </p:spPr>
        <p:txBody>
          <a:bodyPr vert="horz" lIns="36576" tIns="18288" rIns="36576" bIns="18288" rtlCol="0">
            <a:spAutoFit/>
          </a:bodyPr>
          <a:lstStyle/>
          <a:p>
            <a:r>
              <a:rPr lang="en-US" sz="1200">
                <a:solidFill>
                  <a:srgbClr val="9CA9B6"/>
                </a:solidFill>
                <a:latin typeface="Aptos" panose="020B0004020202020204" pitchFamily="34" charset="0"/>
              </a:rPr>
              <a:t>Current top sectors are research-prototype signals, not investment instructions.</a:t>
            </a:r>
            <a:endParaRPr lang="de-DE" sz="1200">
              <a:solidFill>
                <a:srgbClr val="9CA9B6"/>
              </a:solidFill>
              <a:latin typeface="Aptos" panose="020B0004020202020204" pitchFamily="34" charset="0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3DBD3815-3F0C-AC73-BC02-2FDE29E7E6FD}"/>
              </a:ext>
            </a:extLst>
          </p:cNvPr>
          <p:cNvSpPr txBox="1"/>
          <p:nvPr/>
        </p:nvSpPr>
        <p:spPr>
          <a:xfrm>
            <a:off x="749808" y="2029968"/>
            <a:ext cx="2011680" cy="206210"/>
          </a:xfrm>
          <a:prstGeom prst="rect">
            <a:avLst/>
          </a:prstGeom>
          <a:noFill/>
        </p:spPr>
        <p:txBody>
          <a:bodyPr vert="horz" lIns="36576" tIns="18288" rIns="36576" bIns="18288" rtlCol="0">
            <a:spAutoFit/>
          </a:bodyPr>
          <a:lstStyle/>
          <a:p>
            <a:r>
              <a:rPr lang="de-DE" sz="1100" b="1">
                <a:solidFill>
                  <a:srgbClr val="1D2530"/>
                </a:solidFill>
                <a:latin typeface="Aptos" panose="020B0004020202020204" pitchFamily="34" charset="0"/>
              </a:rPr>
              <a:t>Trend / attention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95EBE606-2145-A044-8B48-4213A35475E5}"/>
              </a:ext>
            </a:extLst>
          </p:cNvPr>
          <p:cNvSpPr/>
          <p:nvPr/>
        </p:nvSpPr>
        <p:spPr>
          <a:xfrm>
            <a:off x="2743200" y="2011680"/>
            <a:ext cx="2286000" cy="228600"/>
          </a:xfrm>
          <a:prstGeom prst="rect">
            <a:avLst/>
          </a:prstGeom>
          <a:solidFill>
            <a:srgbClr val="187D9F"/>
          </a:solidFill>
          <a:ln>
            <a:solidFill>
              <a:srgbClr val="187D9F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61AB62A1-2C8E-1852-7E72-44F65CF147D8}"/>
              </a:ext>
            </a:extLst>
          </p:cNvPr>
          <p:cNvSpPr txBox="1"/>
          <p:nvPr/>
        </p:nvSpPr>
        <p:spPr>
          <a:xfrm>
            <a:off x="5193792" y="2002536"/>
            <a:ext cx="548640" cy="190821"/>
          </a:xfrm>
          <a:prstGeom prst="rect">
            <a:avLst/>
          </a:prstGeom>
          <a:noFill/>
        </p:spPr>
        <p:txBody>
          <a:bodyPr vert="horz" lIns="36576" tIns="18288" rIns="36576" bIns="18288" rtlCol="0">
            <a:spAutoFit/>
          </a:bodyPr>
          <a:lstStyle/>
          <a:p>
            <a:r>
              <a:rPr lang="de-DE" sz="1000" b="1">
                <a:solidFill>
                  <a:srgbClr val="187D9F"/>
                </a:solidFill>
                <a:latin typeface="Aptos" panose="020B0004020202020204" pitchFamily="34" charset="0"/>
              </a:rPr>
              <a:t>40%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DE83F8E6-93CD-D198-2B1A-03E296CDEF2E}"/>
              </a:ext>
            </a:extLst>
          </p:cNvPr>
          <p:cNvSpPr txBox="1"/>
          <p:nvPr/>
        </p:nvSpPr>
        <p:spPr>
          <a:xfrm>
            <a:off x="749808" y="2532888"/>
            <a:ext cx="2011680" cy="206210"/>
          </a:xfrm>
          <a:prstGeom prst="rect">
            <a:avLst/>
          </a:prstGeom>
          <a:noFill/>
        </p:spPr>
        <p:txBody>
          <a:bodyPr vert="horz" lIns="36576" tIns="18288" rIns="36576" bIns="18288" rtlCol="0">
            <a:spAutoFit/>
          </a:bodyPr>
          <a:lstStyle/>
          <a:p>
            <a:r>
              <a:rPr lang="de-DE" sz="1100" b="1">
                <a:solidFill>
                  <a:srgbClr val="1D2530"/>
                </a:solidFill>
                <a:latin typeface="Aptos" panose="020B0004020202020204" pitchFamily="34" charset="0"/>
              </a:rPr>
              <a:t>Momentum</a:t>
            </a: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E9D86974-E4FF-D639-D4BC-F77BF1517129}"/>
              </a:ext>
            </a:extLst>
          </p:cNvPr>
          <p:cNvSpPr/>
          <p:nvPr/>
        </p:nvSpPr>
        <p:spPr>
          <a:xfrm>
            <a:off x="2743200" y="2514600"/>
            <a:ext cx="1428750" cy="228600"/>
          </a:xfrm>
          <a:prstGeom prst="rect">
            <a:avLst/>
          </a:prstGeom>
          <a:solidFill>
            <a:srgbClr val="E8B64B"/>
          </a:solidFill>
          <a:ln>
            <a:solidFill>
              <a:srgbClr val="E8B64B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DDCF0B26-C739-029A-27A9-AE298B762AF7}"/>
              </a:ext>
            </a:extLst>
          </p:cNvPr>
          <p:cNvSpPr txBox="1"/>
          <p:nvPr/>
        </p:nvSpPr>
        <p:spPr>
          <a:xfrm>
            <a:off x="4336542" y="2505456"/>
            <a:ext cx="548640" cy="190821"/>
          </a:xfrm>
          <a:prstGeom prst="rect">
            <a:avLst/>
          </a:prstGeom>
          <a:noFill/>
        </p:spPr>
        <p:txBody>
          <a:bodyPr vert="horz" lIns="36576" tIns="18288" rIns="36576" bIns="18288" rtlCol="0">
            <a:spAutoFit/>
          </a:bodyPr>
          <a:lstStyle/>
          <a:p>
            <a:r>
              <a:rPr lang="de-DE" sz="1000" b="1">
                <a:solidFill>
                  <a:srgbClr val="E8B64B"/>
                </a:solidFill>
                <a:latin typeface="Aptos" panose="020B0004020202020204" pitchFamily="34" charset="0"/>
              </a:rPr>
              <a:t>25%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4618BABE-EF17-2484-3311-4C1A93253EF4}"/>
              </a:ext>
            </a:extLst>
          </p:cNvPr>
          <p:cNvSpPr txBox="1"/>
          <p:nvPr/>
        </p:nvSpPr>
        <p:spPr>
          <a:xfrm>
            <a:off x="749808" y="3035808"/>
            <a:ext cx="2011680" cy="206210"/>
          </a:xfrm>
          <a:prstGeom prst="rect">
            <a:avLst/>
          </a:prstGeom>
          <a:noFill/>
        </p:spPr>
        <p:txBody>
          <a:bodyPr vert="horz" lIns="36576" tIns="18288" rIns="36576" bIns="18288" rtlCol="0">
            <a:spAutoFit/>
          </a:bodyPr>
          <a:lstStyle/>
          <a:p>
            <a:r>
              <a:rPr lang="de-DE" sz="1100" b="1">
                <a:solidFill>
                  <a:srgbClr val="1D2530"/>
                </a:solidFill>
                <a:latin typeface="Aptos" panose="020B0004020202020204" pitchFamily="34" charset="0"/>
              </a:rPr>
              <a:t>Fundamentals</a:t>
            </a: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8BD0D240-F917-0FC5-7A86-5C828301E0AB}"/>
              </a:ext>
            </a:extLst>
          </p:cNvPr>
          <p:cNvSpPr/>
          <p:nvPr/>
        </p:nvSpPr>
        <p:spPr>
          <a:xfrm>
            <a:off x="2743200" y="3017520"/>
            <a:ext cx="1143000" cy="228600"/>
          </a:xfrm>
          <a:prstGeom prst="rect">
            <a:avLst/>
          </a:prstGeom>
          <a:solidFill>
            <a:srgbClr val="5CA87A"/>
          </a:solidFill>
          <a:ln>
            <a:solidFill>
              <a:srgbClr val="5CA87A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F5EA9E8B-9459-5D99-6BCE-B3663A1DBB93}"/>
              </a:ext>
            </a:extLst>
          </p:cNvPr>
          <p:cNvSpPr txBox="1"/>
          <p:nvPr/>
        </p:nvSpPr>
        <p:spPr>
          <a:xfrm>
            <a:off x="4050792" y="3008376"/>
            <a:ext cx="548640" cy="190821"/>
          </a:xfrm>
          <a:prstGeom prst="rect">
            <a:avLst/>
          </a:prstGeom>
          <a:noFill/>
        </p:spPr>
        <p:txBody>
          <a:bodyPr vert="horz" lIns="36576" tIns="18288" rIns="36576" bIns="18288" rtlCol="0">
            <a:spAutoFit/>
          </a:bodyPr>
          <a:lstStyle/>
          <a:p>
            <a:r>
              <a:rPr lang="de-DE" sz="1000" b="1">
                <a:solidFill>
                  <a:srgbClr val="5CA87A"/>
                </a:solidFill>
                <a:latin typeface="Aptos" panose="020B0004020202020204" pitchFamily="34" charset="0"/>
              </a:rPr>
              <a:t>20%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70FE2315-ABAC-78A5-473E-04BD03CDD211}"/>
              </a:ext>
            </a:extLst>
          </p:cNvPr>
          <p:cNvSpPr txBox="1"/>
          <p:nvPr/>
        </p:nvSpPr>
        <p:spPr>
          <a:xfrm>
            <a:off x="749808" y="3538728"/>
            <a:ext cx="2011680" cy="206210"/>
          </a:xfrm>
          <a:prstGeom prst="rect">
            <a:avLst/>
          </a:prstGeom>
          <a:noFill/>
        </p:spPr>
        <p:txBody>
          <a:bodyPr vert="horz" lIns="36576" tIns="18288" rIns="36576" bIns="18288" rtlCol="0">
            <a:spAutoFit/>
          </a:bodyPr>
          <a:lstStyle/>
          <a:p>
            <a:r>
              <a:rPr lang="de-DE" sz="1100" b="1">
                <a:solidFill>
                  <a:srgbClr val="1D2530"/>
                </a:solidFill>
                <a:latin typeface="Aptos" panose="020B0004020202020204" pitchFamily="34" charset="0"/>
              </a:rPr>
              <a:t>Risk</a:t>
            </a:r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6F0305C6-B9FD-B197-6BA9-80AE35C48753}"/>
              </a:ext>
            </a:extLst>
          </p:cNvPr>
          <p:cNvSpPr/>
          <p:nvPr/>
        </p:nvSpPr>
        <p:spPr>
          <a:xfrm>
            <a:off x="2743200" y="3520440"/>
            <a:ext cx="857250" cy="228600"/>
          </a:xfrm>
          <a:prstGeom prst="rect">
            <a:avLst/>
          </a:prstGeom>
          <a:solidFill>
            <a:srgbClr val="C86435"/>
          </a:solidFill>
          <a:ln>
            <a:solidFill>
              <a:srgbClr val="C86435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ACB7EFED-4D50-2807-BD70-D753776434D8}"/>
              </a:ext>
            </a:extLst>
          </p:cNvPr>
          <p:cNvSpPr txBox="1"/>
          <p:nvPr/>
        </p:nvSpPr>
        <p:spPr>
          <a:xfrm>
            <a:off x="3765042" y="3511296"/>
            <a:ext cx="548640" cy="190821"/>
          </a:xfrm>
          <a:prstGeom prst="rect">
            <a:avLst/>
          </a:prstGeom>
          <a:noFill/>
        </p:spPr>
        <p:txBody>
          <a:bodyPr vert="horz" lIns="36576" tIns="18288" rIns="36576" bIns="18288" rtlCol="0">
            <a:spAutoFit/>
          </a:bodyPr>
          <a:lstStyle/>
          <a:p>
            <a:r>
              <a:rPr lang="de-DE" sz="1000" b="1">
                <a:solidFill>
                  <a:srgbClr val="C86435"/>
                </a:solidFill>
                <a:latin typeface="Aptos" panose="020B0004020202020204" pitchFamily="34" charset="0"/>
              </a:rPr>
              <a:t>15%</a:t>
            </a:r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068B63AE-36AA-D412-7209-15194F2A2305}"/>
              </a:ext>
            </a:extLst>
          </p:cNvPr>
          <p:cNvSpPr/>
          <p:nvPr/>
        </p:nvSpPr>
        <p:spPr>
          <a:xfrm>
            <a:off x="5623560" y="1828800"/>
            <a:ext cx="1417320" cy="420624"/>
          </a:xfrm>
          <a:prstGeom prst="rect">
            <a:avLst/>
          </a:prstGeom>
          <a:solidFill>
            <a:srgbClr val="0F1B2B"/>
          </a:solidFill>
          <a:ln>
            <a:solidFill>
              <a:srgbClr val="D0DAE4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914455B7-E772-9098-3A25-EF5161F14572}"/>
              </a:ext>
            </a:extLst>
          </p:cNvPr>
          <p:cNvSpPr txBox="1"/>
          <p:nvPr/>
        </p:nvSpPr>
        <p:spPr>
          <a:xfrm>
            <a:off x="5678424" y="1901952"/>
            <a:ext cx="1307592" cy="160044"/>
          </a:xfrm>
          <a:prstGeom prst="rect">
            <a:avLst/>
          </a:prstGeom>
          <a:noFill/>
        </p:spPr>
        <p:txBody>
          <a:bodyPr vert="horz" lIns="36576" tIns="18288" rIns="36576" bIns="18288" rtlCol="0">
            <a:spAutoFit/>
          </a:bodyPr>
          <a:lstStyle/>
          <a:p>
            <a:r>
              <a:rPr lang="de-DE" sz="800" b="1">
                <a:solidFill>
                  <a:srgbClr val="FFFFFF"/>
                </a:solidFill>
                <a:latin typeface="Aptos" panose="020B0004020202020204" pitchFamily="34" charset="0"/>
              </a:rPr>
              <a:t>Sector</a:t>
            </a:r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6CF3D705-DE30-0927-801B-F3A99E44C46F}"/>
              </a:ext>
            </a:extLst>
          </p:cNvPr>
          <p:cNvSpPr/>
          <p:nvPr/>
        </p:nvSpPr>
        <p:spPr>
          <a:xfrm>
            <a:off x="7040880" y="1828800"/>
            <a:ext cx="594360" cy="420624"/>
          </a:xfrm>
          <a:prstGeom prst="rect">
            <a:avLst/>
          </a:prstGeom>
          <a:solidFill>
            <a:srgbClr val="0F1B2B"/>
          </a:solidFill>
          <a:ln>
            <a:solidFill>
              <a:srgbClr val="D0DAE4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EFD0DC38-84A3-5B0D-43C8-A4FF10119BEC}"/>
              </a:ext>
            </a:extLst>
          </p:cNvPr>
          <p:cNvSpPr txBox="1"/>
          <p:nvPr/>
        </p:nvSpPr>
        <p:spPr>
          <a:xfrm>
            <a:off x="7095744" y="1901952"/>
            <a:ext cx="484632" cy="160044"/>
          </a:xfrm>
          <a:prstGeom prst="rect">
            <a:avLst/>
          </a:prstGeom>
          <a:noFill/>
        </p:spPr>
        <p:txBody>
          <a:bodyPr vert="horz" lIns="36576" tIns="18288" rIns="36576" bIns="18288" rtlCol="0">
            <a:spAutoFit/>
          </a:bodyPr>
          <a:lstStyle/>
          <a:p>
            <a:r>
              <a:rPr lang="de-DE" sz="800" b="1">
                <a:solidFill>
                  <a:srgbClr val="FFFFFF"/>
                </a:solidFill>
                <a:latin typeface="Aptos" panose="020B0004020202020204" pitchFamily="34" charset="0"/>
              </a:rPr>
              <a:t>Ticker</a:t>
            </a:r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DD6ED49A-DCD6-C953-09C0-84CF2CD6FDCA}"/>
              </a:ext>
            </a:extLst>
          </p:cNvPr>
          <p:cNvSpPr/>
          <p:nvPr/>
        </p:nvSpPr>
        <p:spPr>
          <a:xfrm>
            <a:off x="7635240" y="1828800"/>
            <a:ext cx="594360" cy="420624"/>
          </a:xfrm>
          <a:prstGeom prst="rect">
            <a:avLst/>
          </a:prstGeom>
          <a:solidFill>
            <a:srgbClr val="0F1B2B"/>
          </a:solidFill>
          <a:ln>
            <a:solidFill>
              <a:srgbClr val="D0DAE4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FD7325D6-6499-FA8C-8592-9F78700035A4}"/>
              </a:ext>
            </a:extLst>
          </p:cNvPr>
          <p:cNvSpPr txBox="1"/>
          <p:nvPr/>
        </p:nvSpPr>
        <p:spPr>
          <a:xfrm>
            <a:off x="7690104" y="1901952"/>
            <a:ext cx="484632" cy="160044"/>
          </a:xfrm>
          <a:prstGeom prst="rect">
            <a:avLst/>
          </a:prstGeom>
          <a:noFill/>
        </p:spPr>
        <p:txBody>
          <a:bodyPr vert="horz" lIns="36576" tIns="18288" rIns="36576" bIns="18288" rtlCol="0">
            <a:spAutoFit/>
          </a:bodyPr>
          <a:lstStyle/>
          <a:p>
            <a:r>
              <a:rPr lang="de-DE" sz="800" b="1">
                <a:solidFill>
                  <a:srgbClr val="FFFFFF"/>
                </a:solidFill>
                <a:latin typeface="Aptos" panose="020B0004020202020204" pitchFamily="34" charset="0"/>
              </a:rPr>
              <a:t>Score</a:t>
            </a:r>
          </a:p>
        </p:txBody>
      </p:sp>
      <p:sp>
        <p:nvSpPr>
          <p:cNvPr id="25" name="Rectangle 24">
            <a:extLst>
              <a:ext uri="{FF2B5EF4-FFF2-40B4-BE49-F238E27FC236}">
                <a16:creationId xmlns:a16="http://schemas.microsoft.com/office/drawing/2014/main" id="{DF3796AB-48AE-47AE-C00E-1CCD6F186DB7}"/>
              </a:ext>
            </a:extLst>
          </p:cNvPr>
          <p:cNvSpPr/>
          <p:nvPr/>
        </p:nvSpPr>
        <p:spPr>
          <a:xfrm>
            <a:off x="8229600" y="1828800"/>
            <a:ext cx="1508760" cy="420624"/>
          </a:xfrm>
          <a:prstGeom prst="rect">
            <a:avLst/>
          </a:prstGeom>
          <a:solidFill>
            <a:srgbClr val="0F1B2B"/>
          </a:solidFill>
          <a:ln>
            <a:solidFill>
              <a:srgbClr val="D0DAE4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5B023581-4A43-F473-1559-E6ADBEC9811C}"/>
              </a:ext>
            </a:extLst>
          </p:cNvPr>
          <p:cNvSpPr txBox="1"/>
          <p:nvPr/>
        </p:nvSpPr>
        <p:spPr>
          <a:xfrm>
            <a:off x="8284464" y="1901952"/>
            <a:ext cx="1399032" cy="160044"/>
          </a:xfrm>
          <a:prstGeom prst="rect">
            <a:avLst/>
          </a:prstGeom>
          <a:noFill/>
        </p:spPr>
        <p:txBody>
          <a:bodyPr vert="horz" lIns="36576" tIns="18288" rIns="36576" bIns="18288" rtlCol="0">
            <a:spAutoFit/>
          </a:bodyPr>
          <a:lstStyle/>
          <a:p>
            <a:r>
              <a:rPr lang="de-DE" sz="800" b="1">
                <a:solidFill>
                  <a:srgbClr val="FFFFFF"/>
                </a:solidFill>
                <a:latin typeface="Aptos" panose="020B0004020202020204" pitchFamily="34" charset="0"/>
              </a:rPr>
              <a:t>Label</a:t>
            </a:r>
          </a:p>
        </p:txBody>
      </p:sp>
      <p:sp>
        <p:nvSpPr>
          <p:cNvPr id="27" name="Rectangle 26">
            <a:extLst>
              <a:ext uri="{FF2B5EF4-FFF2-40B4-BE49-F238E27FC236}">
                <a16:creationId xmlns:a16="http://schemas.microsoft.com/office/drawing/2014/main" id="{CF1871EC-AAD9-9FDC-011B-6F69E13965DD}"/>
              </a:ext>
            </a:extLst>
          </p:cNvPr>
          <p:cNvSpPr/>
          <p:nvPr/>
        </p:nvSpPr>
        <p:spPr>
          <a:xfrm>
            <a:off x="9738360" y="1828800"/>
            <a:ext cx="1005840" cy="420624"/>
          </a:xfrm>
          <a:prstGeom prst="rect">
            <a:avLst/>
          </a:prstGeom>
          <a:solidFill>
            <a:srgbClr val="0F1B2B"/>
          </a:solidFill>
          <a:ln>
            <a:solidFill>
              <a:srgbClr val="D0DAE4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B072CE92-DE05-19FE-804E-39FB43D788CE}"/>
              </a:ext>
            </a:extLst>
          </p:cNvPr>
          <p:cNvSpPr txBox="1"/>
          <p:nvPr/>
        </p:nvSpPr>
        <p:spPr>
          <a:xfrm>
            <a:off x="9793224" y="1901952"/>
            <a:ext cx="896112" cy="160044"/>
          </a:xfrm>
          <a:prstGeom prst="rect">
            <a:avLst/>
          </a:prstGeom>
          <a:noFill/>
        </p:spPr>
        <p:txBody>
          <a:bodyPr vert="horz" lIns="36576" tIns="18288" rIns="36576" bIns="18288" rtlCol="0">
            <a:spAutoFit/>
          </a:bodyPr>
          <a:lstStyle/>
          <a:p>
            <a:r>
              <a:rPr lang="de-DE" sz="800" b="1">
                <a:solidFill>
                  <a:srgbClr val="FFFFFF"/>
                </a:solidFill>
                <a:latin typeface="Aptos" panose="020B0004020202020204" pitchFamily="34" charset="0"/>
              </a:rPr>
              <a:t>Trend status</a:t>
            </a:r>
          </a:p>
        </p:txBody>
      </p:sp>
      <p:sp>
        <p:nvSpPr>
          <p:cNvPr id="29" name="Rectangle 28">
            <a:extLst>
              <a:ext uri="{FF2B5EF4-FFF2-40B4-BE49-F238E27FC236}">
                <a16:creationId xmlns:a16="http://schemas.microsoft.com/office/drawing/2014/main" id="{4AF63CC5-704D-2E3A-A287-171CF0D71B26}"/>
              </a:ext>
            </a:extLst>
          </p:cNvPr>
          <p:cNvSpPr/>
          <p:nvPr/>
        </p:nvSpPr>
        <p:spPr>
          <a:xfrm>
            <a:off x="5623560" y="2249424"/>
            <a:ext cx="1417320" cy="420624"/>
          </a:xfrm>
          <a:prstGeom prst="rect">
            <a:avLst/>
          </a:prstGeom>
          <a:solidFill>
            <a:srgbClr val="FFFFFF"/>
          </a:solidFill>
          <a:ln>
            <a:solidFill>
              <a:srgbClr val="D0DAE4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E2F59021-F5D4-D6A6-676A-BA00B08976C5}"/>
              </a:ext>
            </a:extLst>
          </p:cNvPr>
          <p:cNvSpPr txBox="1"/>
          <p:nvPr/>
        </p:nvSpPr>
        <p:spPr>
          <a:xfrm>
            <a:off x="5678424" y="2322576"/>
            <a:ext cx="1307592" cy="175433"/>
          </a:xfrm>
          <a:prstGeom prst="rect">
            <a:avLst/>
          </a:prstGeom>
          <a:noFill/>
        </p:spPr>
        <p:txBody>
          <a:bodyPr vert="horz" lIns="36576" tIns="18288" rIns="36576" bIns="18288" rtlCol="0">
            <a:spAutoFit/>
          </a:bodyPr>
          <a:lstStyle/>
          <a:p>
            <a:r>
              <a:rPr lang="de-DE" sz="900">
                <a:solidFill>
                  <a:srgbClr val="1D2530"/>
                </a:solidFill>
                <a:latin typeface="Aptos" panose="020B0004020202020204" pitchFamily="34" charset="0"/>
              </a:rPr>
              <a:t>Consumer Staples</a:t>
            </a:r>
          </a:p>
        </p:txBody>
      </p:sp>
      <p:sp>
        <p:nvSpPr>
          <p:cNvPr id="31" name="Rectangle 30">
            <a:extLst>
              <a:ext uri="{FF2B5EF4-FFF2-40B4-BE49-F238E27FC236}">
                <a16:creationId xmlns:a16="http://schemas.microsoft.com/office/drawing/2014/main" id="{909491AB-AEFC-BBD4-B9D2-994747347EDD}"/>
              </a:ext>
            </a:extLst>
          </p:cNvPr>
          <p:cNvSpPr/>
          <p:nvPr/>
        </p:nvSpPr>
        <p:spPr>
          <a:xfrm>
            <a:off x="7040880" y="2249424"/>
            <a:ext cx="594360" cy="420624"/>
          </a:xfrm>
          <a:prstGeom prst="rect">
            <a:avLst/>
          </a:prstGeom>
          <a:solidFill>
            <a:srgbClr val="FFFFFF"/>
          </a:solidFill>
          <a:ln>
            <a:solidFill>
              <a:srgbClr val="D0DAE4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BC57F4AA-53E8-541D-E1C9-2EDB4A3F57C8}"/>
              </a:ext>
            </a:extLst>
          </p:cNvPr>
          <p:cNvSpPr txBox="1"/>
          <p:nvPr/>
        </p:nvSpPr>
        <p:spPr>
          <a:xfrm>
            <a:off x="7095744" y="2322576"/>
            <a:ext cx="484632" cy="175433"/>
          </a:xfrm>
          <a:prstGeom prst="rect">
            <a:avLst/>
          </a:prstGeom>
          <a:noFill/>
        </p:spPr>
        <p:txBody>
          <a:bodyPr vert="horz" lIns="36576" tIns="18288" rIns="36576" bIns="18288" rtlCol="0">
            <a:spAutoFit/>
          </a:bodyPr>
          <a:lstStyle/>
          <a:p>
            <a:r>
              <a:rPr lang="de-DE" sz="900">
                <a:solidFill>
                  <a:srgbClr val="1D2530"/>
                </a:solidFill>
                <a:latin typeface="Aptos" panose="020B0004020202020204" pitchFamily="34" charset="0"/>
              </a:rPr>
              <a:t>XLP</a:t>
            </a:r>
          </a:p>
        </p:txBody>
      </p:sp>
      <p:sp>
        <p:nvSpPr>
          <p:cNvPr id="33" name="Rectangle 32">
            <a:extLst>
              <a:ext uri="{FF2B5EF4-FFF2-40B4-BE49-F238E27FC236}">
                <a16:creationId xmlns:a16="http://schemas.microsoft.com/office/drawing/2014/main" id="{B15A8951-817A-8709-84D5-29F05634A0F3}"/>
              </a:ext>
            </a:extLst>
          </p:cNvPr>
          <p:cNvSpPr/>
          <p:nvPr/>
        </p:nvSpPr>
        <p:spPr>
          <a:xfrm>
            <a:off x="7635240" y="2249424"/>
            <a:ext cx="594360" cy="420624"/>
          </a:xfrm>
          <a:prstGeom prst="rect">
            <a:avLst/>
          </a:prstGeom>
          <a:solidFill>
            <a:srgbClr val="FFFFFF"/>
          </a:solidFill>
          <a:ln>
            <a:solidFill>
              <a:srgbClr val="D0DAE4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34" name="TextBox 33">
            <a:extLst>
              <a:ext uri="{FF2B5EF4-FFF2-40B4-BE49-F238E27FC236}">
                <a16:creationId xmlns:a16="http://schemas.microsoft.com/office/drawing/2014/main" id="{FEC37D71-1661-E594-076D-FBF52E0F3B43}"/>
              </a:ext>
            </a:extLst>
          </p:cNvPr>
          <p:cNvSpPr txBox="1"/>
          <p:nvPr/>
        </p:nvSpPr>
        <p:spPr>
          <a:xfrm>
            <a:off x="7690104" y="2322576"/>
            <a:ext cx="484632" cy="175433"/>
          </a:xfrm>
          <a:prstGeom prst="rect">
            <a:avLst/>
          </a:prstGeom>
          <a:noFill/>
        </p:spPr>
        <p:txBody>
          <a:bodyPr vert="horz" lIns="36576" tIns="18288" rIns="36576" bIns="18288" rtlCol="0">
            <a:spAutoFit/>
          </a:bodyPr>
          <a:lstStyle/>
          <a:p>
            <a:r>
              <a:rPr lang="de-DE" sz="900">
                <a:solidFill>
                  <a:srgbClr val="1D2530"/>
                </a:solidFill>
                <a:latin typeface="Aptos" panose="020B0004020202020204" pitchFamily="34" charset="0"/>
              </a:rPr>
              <a:t>64.2</a:t>
            </a:r>
          </a:p>
        </p:txBody>
      </p:sp>
      <p:sp>
        <p:nvSpPr>
          <p:cNvPr id="35" name="Rectangle 34">
            <a:extLst>
              <a:ext uri="{FF2B5EF4-FFF2-40B4-BE49-F238E27FC236}">
                <a16:creationId xmlns:a16="http://schemas.microsoft.com/office/drawing/2014/main" id="{DC5905F3-30BF-9D43-4B21-8D59D23A5876}"/>
              </a:ext>
            </a:extLst>
          </p:cNvPr>
          <p:cNvSpPr/>
          <p:nvPr/>
        </p:nvSpPr>
        <p:spPr>
          <a:xfrm>
            <a:off x="8229600" y="2249424"/>
            <a:ext cx="1508760" cy="420624"/>
          </a:xfrm>
          <a:prstGeom prst="rect">
            <a:avLst/>
          </a:prstGeom>
          <a:solidFill>
            <a:srgbClr val="FFFFFF"/>
          </a:solidFill>
          <a:ln>
            <a:solidFill>
              <a:srgbClr val="D0DAE4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36" name="TextBox 35">
            <a:extLst>
              <a:ext uri="{FF2B5EF4-FFF2-40B4-BE49-F238E27FC236}">
                <a16:creationId xmlns:a16="http://schemas.microsoft.com/office/drawing/2014/main" id="{61C38D19-5DA9-EF7C-3B5B-DBB638729F62}"/>
              </a:ext>
            </a:extLst>
          </p:cNvPr>
          <p:cNvSpPr txBox="1"/>
          <p:nvPr/>
        </p:nvSpPr>
        <p:spPr>
          <a:xfrm>
            <a:off x="8284464" y="2322576"/>
            <a:ext cx="1399032" cy="175433"/>
          </a:xfrm>
          <a:prstGeom prst="rect">
            <a:avLst/>
          </a:prstGeom>
          <a:noFill/>
        </p:spPr>
        <p:txBody>
          <a:bodyPr vert="horz" lIns="36576" tIns="18288" rIns="36576" bIns="18288" rtlCol="0">
            <a:spAutoFit/>
          </a:bodyPr>
          <a:lstStyle/>
          <a:p>
            <a:r>
              <a:rPr lang="de-DE" sz="900">
                <a:solidFill>
                  <a:srgbClr val="1D2530"/>
                </a:solidFill>
                <a:latin typeface="Aptos" panose="020B0004020202020204" pitchFamily="34" charset="0"/>
              </a:rPr>
              <a:t>Research Prototype</a:t>
            </a:r>
          </a:p>
        </p:txBody>
      </p:sp>
      <p:sp>
        <p:nvSpPr>
          <p:cNvPr id="37" name="Rectangle 36">
            <a:extLst>
              <a:ext uri="{FF2B5EF4-FFF2-40B4-BE49-F238E27FC236}">
                <a16:creationId xmlns:a16="http://schemas.microsoft.com/office/drawing/2014/main" id="{4F972DB4-CA16-EBD6-46A8-CEAE48CA4430}"/>
              </a:ext>
            </a:extLst>
          </p:cNvPr>
          <p:cNvSpPr/>
          <p:nvPr/>
        </p:nvSpPr>
        <p:spPr>
          <a:xfrm>
            <a:off x="9738360" y="2249424"/>
            <a:ext cx="1005840" cy="420624"/>
          </a:xfrm>
          <a:prstGeom prst="rect">
            <a:avLst/>
          </a:prstGeom>
          <a:solidFill>
            <a:srgbClr val="FFFFFF"/>
          </a:solidFill>
          <a:ln>
            <a:solidFill>
              <a:srgbClr val="D0DAE4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38" name="TextBox 37">
            <a:extLst>
              <a:ext uri="{FF2B5EF4-FFF2-40B4-BE49-F238E27FC236}">
                <a16:creationId xmlns:a16="http://schemas.microsoft.com/office/drawing/2014/main" id="{35A5232D-844F-E8F3-EAE2-7EB959FCC4A7}"/>
              </a:ext>
            </a:extLst>
          </p:cNvPr>
          <p:cNvSpPr txBox="1"/>
          <p:nvPr/>
        </p:nvSpPr>
        <p:spPr>
          <a:xfrm>
            <a:off x="9793224" y="2322576"/>
            <a:ext cx="896112" cy="175433"/>
          </a:xfrm>
          <a:prstGeom prst="rect">
            <a:avLst/>
          </a:prstGeom>
          <a:noFill/>
        </p:spPr>
        <p:txBody>
          <a:bodyPr vert="horz" lIns="36576" tIns="18288" rIns="36576" bIns="18288" rtlCol="0">
            <a:spAutoFit/>
          </a:bodyPr>
          <a:lstStyle/>
          <a:p>
            <a:r>
              <a:rPr lang="de-DE" sz="900">
                <a:solidFill>
                  <a:srgbClr val="1D2530"/>
                </a:solidFill>
                <a:latin typeface="Aptos" panose="020B0004020202020204" pitchFamily="34" charset="0"/>
              </a:rPr>
              <a:t>demo</a:t>
            </a:r>
          </a:p>
        </p:txBody>
      </p:sp>
      <p:sp>
        <p:nvSpPr>
          <p:cNvPr id="39" name="Rectangle 38">
            <a:extLst>
              <a:ext uri="{FF2B5EF4-FFF2-40B4-BE49-F238E27FC236}">
                <a16:creationId xmlns:a16="http://schemas.microsoft.com/office/drawing/2014/main" id="{3BF450EE-D061-86D1-875F-7B1B0B810878}"/>
              </a:ext>
            </a:extLst>
          </p:cNvPr>
          <p:cNvSpPr/>
          <p:nvPr/>
        </p:nvSpPr>
        <p:spPr>
          <a:xfrm>
            <a:off x="5623560" y="2670048"/>
            <a:ext cx="1417320" cy="420624"/>
          </a:xfrm>
          <a:prstGeom prst="rect">
            <a:avLst/>
          </a:prstGeom>
          <a:solidFill>
            <a:srgbClr val="F3F8FB"/>
          </a:solidFill>
          <a:ln>
            <a:solidFill>
              <a:srgbClr val="D0DAE4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40" name="TextBox 39">
            <a:extLst>
              <a:ext uri="{FF2B5EF4-FFF2-40B4-BE49-F238E27FC236}">
                <a16:creationId xmlns:a16="http://schemas.microsoft.com/office/drawing/2014/main" id="{E49C1063-31BA-A883-EEDB-EAD41E9D598F}"/>
              </a:ext>
            </a:extLst>
          </p:cNvPr>
          <p:cNvSpPr txBox="1"/>
          <p:nvPr/>
        </p:nvSpPr>
        <p:spPr>
          <a:xfrm>
            <a:off x="5678424" y="2743200"/>
            <a:ext cx="1307592" cy="175433"/>
          </a:xfrm>
          <a:prstGeom prst="rect">
            <a:avLst/>
          </a:prstGeom>
          <a:noFill/>
        </p:spPr>
        <p:txBody>
          <a:bodyPr vert="horz" lIns="36576" tIns="18288" rIns="36576" bIns="18288" rtlCol="0">
            <a:spAutoFit/>
          </a:bodyPr>
          <a:lstStyle/>
          <a:p>
            <a:r>
              <a:rPr lang="de-DE" sz="900">
                <a:solidFill>
                  <a:srgbClr val="1D2530"/>
                </a:solidFill>
                <a:latin typeface="Aptos" panose="020B0004020202020204" pitchFamily="34" charset="0"/>
              </a:rPr>
              <a:t>Utilities</a:t>
            </a:r>
          </a:p>
        </p:txBody>
      </p:sp>
      <p:sp>
        <p:nvSpPr>
          <p:cNvPr id="41" name="Rectangle 40">
            <a:extLst>
              <a:ext uri="{FF2B5EF4-FFF2-40B4-BE49-F238E27FC236}">
                <a16:creationId xmlns:a16="http://schemas.microsoft.com/office/drawing/2014/main" id="{484CE605-B839-1E16-6F9D-7B30BDD72136}"/>
              </a:ext>
            </a:extLst>
          </p:cNvPr>
          <p:cNvSpPr/>
          <p:nvPr/>
        </p:nvSpPr>
        <p:spPr>
          <a:xfrm>
            <a:off x="7040880" y="2670048"/>
            <a:ext cx="594360" cy="420624"/>
          </a:xfrm>
          <a:prstGeom prst="rect">
            <a:avLst/>
          </a:prstGeom>
          <a:solidFill>
            <a:srgbClr val="F3F8FB"/>
          </a:solidFill>
          <a:ln>
            <a:solidFill>
              <a:srgbClr val="D0DAE4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42" name="TextBox 41">
            <a:extLst>
              <a:ext uri="{FF2B5EF4-FFF2-40B4-BE49-F238E27FC236}">
                <a16:creationId xmlns:a16="http://schemas.microsoft.com/office/drawing/2014/main" id="{0D1992D1-D57A-F2EE-6D62-D01D81A07B63}"/>
              </a:ext>
            </a:extLst>
          </p:cNvPr>
          <p:cNvSpPr txBox="1"/>
          <p:nvPr/>
        </p:nvSpPr>
        <p:spPr>
          <a:xfrm>
            <a:off x="7095744" y="2743200"/>
            <a:ext cx="484632" cy="175433"/>
          </a:xfrm>
          <a:prstGeom prst="rect">
            <a:avLst/>
          </a:prstGeom>
          <a:noFill/>
        </p:spPr>
        <p:txBody>
          <a:bodyPr vert="horz" lIns="36576" tIns="18288" rIns="36576" bIns="18288" rtlCol="0">
            <a:spAutoFit/>
          </a:bodyPr>
          <a:lstStyle/>
          <a:p>
            <a:r>
              <a:rPr lang="de-DE" sz="900">
                <a:solidFill>
                  <a:srgbClr val="1D2530"/>
                </a:solidFill>
                <a:latin typeface="Aptos" panose="020B0004020202020204" pitchFamily="34" charset="0"/>
              </a:rPr>
              <a:t>XLU</a:t>
            </a:r>
          </a:p>
        </p:txBody>
      </p:sp>
      <p:sp>
        <p:nvSpPr>
          <p:cNvPr id="43" name="Rectangle 42">
            <a:extLst>
              <a:ext uri="{FF2B5EF4-FFF2-40B4-BE49-F238E27FC236}">
                <a16:creationId xmlns:a16="http://schemas.microsoft.com/office/drawing/2014/main" id="{5126FB68-68CB-0BC4-93AA-E0E005FDAA91}"/>
              </a:ext>
            </a:extLst>
          </p:cNvPr>
          <p:cNvSpPr/>
          <p:nvPr/>
        </p:nvSpPr>
        <p:spPr>
          <a:xfrm>
            <a:off x="7635240" y="2670048"/>
            <a:ext cx="594360" cy="420624"/>
          </a:xfrm>
          <a:prstGeom prst="rect">
            <a:avLst/>
          </a:prstGeom>
          <a:solidFill>
            <a:srgbClr val="F3F8FB"/>
          </a:solidFill>
          <a:ln>
            <a:solidFill>
              <a:srgbClr val="D0DAE4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44" name="TextBox 43">
            <a:extLst>
              <a:ext uri="{FF2B5EF4-FFF2-40B4-BE49-F238E27FC236}">
                <a16:creationId xmlns:a16="http://schemas.microsoft.com/office/drawing/2014/main" id="{1F716321-AD0E-1062-9511-CB3E41AFC312}"/>
              </a:ext>
            </a:extLst>
          </p:cNvPr>
          <p:cNvSpPr txBox="1"/>
          <p:nvPr/>
        </p:nvSpPr>
        <p:spPr>
          <a:xfrm>
            <a:off x="7690104" y="2743200"/>
            <a:ext cx="484632" cy="175433"/>
          </a:xfrm>
          <a:prstGeom prst="rect">
            <a:avLst/>
          </a:prstGeom>
          <a:noFill/>
        </p:spPr>
        <p:txBody>
          <a:bodyPr vert="horz" lIns="36576" tIns="18288" rIns="36576" bIns="18288" rtlCol="0">
            <a:spAutoFit/>
          </a:bodyPr>
          <a:lstStyle/>
          <a:p>
            <a:r>
              <a:rPr lang="de-DE" sz="900">
                <a:solidFill>
                  <a:srgbClr val="1D2530"/>
                </a:solidFill>
                <a:latin typeface="Aptos" panose="020B0004020202020204" pitchFamily="34" charset="0"/>
              </a:rPr>
              <a:t>61.5</a:t>
            </a:r>
          </a:p>
        </p:txBody>
      </p:sp>
      <p:sp>
        <p:nvSpPr>
          <p:cNvPr id="45" name="Rectangle 44">
            <a:extLst>
              <a:ext uri="{FF2B5EF4-FFF2-40B4-BE49-F238E27FC236}">
                <a16:creationId xmlns:a16="http://schemas.microsoft.com/office/drawing/2014/main" id="{628B809A-564D-F3D3-7A71-F52E1ABEA32B}"/>
              </a:ext>
            </a:extLst>
          </p:cNvPr>
          <p:cNvSpPr/>
          <p:nvPr/>
        </p:nvSpPr>
        <p:spPr>
          <a:xfrm>
            <a:off x="8229600" y="2670048"/>
            <a:ext cx="1508760" cy="420624"/>
          </a:xfrm>
          <a:prstGeom prst="rect">
            <a:avLst/>
          </a:prstGeom>
          <a:solidFill>
            <a:srgbClr val="F3F8FB"/>
          </a:solidFill>
          <a:ln>
            <a:solidFill>
              <a:srgbClr val="D0DAE4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46" name="TextBox 45">
            <a:extLst>
              <a:ext uri="{FF2B5EF4-FFF2-40B4-BE49-F238E27FC236}">
                <a16:creationId xmlns:a16="http://schemas.microsoft.com/office/drawing/2014/main" id="{E7052D80-9BED-5EFD-CE38-1D099264EB28}"/>
              </a:ext>
            </a:extLst>
          </p:cNvPr>
          <p:cNvSpPr txBox="1"/>
          <p:nvPr/>
        </p:nvSpPr>
        <p:spPr>
          <a:xfrm>
            <a:off x="8284464" y="2743200"/>
            <a:ext cx="1399032" cy="175433"/>
          </a:xfrm>
          <a:prstGeom prst="rect">
            <a:avLst/>
          </a:prstGeom>
          <a:noFill/>
        </p:spPr>
        <p:txBody>
          <a:bodyPr vert="horz" lIns="36576" tIns="18288" rIns="36576" bIns="18288" rtlCol="0">
            <a:spAutoFit/>
          </a:bodyPr>
          <a:lstStyle/>
          <a:p>
            <a:r>
              <a:rPr lang="de-DE" sz="900">
                <a:solidFill>
                  <a:srgbClr val="1D2530"/>
                </a:solidFill>
                <a:latin typeface="Aptos" panose="020B0004020202020204" pitchFamily="34" charset="0"/>
              </a:rPr>
              <a:t>Research Prototype</a:t>
            </a:r>
          </a:p>
        </p:txBody>
      </p:sp>
      <p:sp>
        <p:nvSpPr>
          <p:cNvPr id="47" name="Rectangle 46">
            <a:extLst>
              <a:ext uri="{FF2B5EF4-FFF2-40B4-BE49-F238E27FC236}">
                <a16:creationId xmlns:a16="http://schemas.microsoft.com/office/drawing/2014/main" id="{F635FCA8-C625-35B5-B102-7F7A29BD2B61}"/>
              </a:ext>
            </a:extLst>
          </p:cNvPr>
          <p:cNvSpPr/>
          <p:nvPr/>
        </p:nvSpPr>
        <p:spPr>
          <a:xfrm>
            <a:off x="9738360" y="2670048"/>
            <a:ext cx="1005840" cy="420624"/>
          </a:xfrm>
          <a:prstGeom prst="rect">
            <a:avLst/>
          </a:prstGeom>
          <a:solidFill>
            <a:srgbClr val="F3F8FB"/>
          </a:solidFill>
          <a:ln>
            <a:solidFill>
              <a:srgbClr val="D0DAE4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48" name="TextBox 47">
            <a:extLst>
              <a:ext uri="{FF2B5EF4-FFF2-40B4-BE49-F238E27FC236}">
                <a16:creationId xmlns:a16="http://schemas.microsoft.com/office/drawing/2014/main" id="{49FFB4BB-62AC-AD20-3375-04551D34D201}"/>
              </a:ext>
            </a:extLst>
          </p:cNvPr>
          <p:cNvSpPr txBox="1"/>
          <p:nvPr/>
        </p:nvSpPr>
        <p:spPr>
          <a:xfrm>
            <a:off x="9793224" y="2743200"/>
            <a:ext cx="896112" cy="175433"/>
          </a:xfrm>
          <a:prstGeom prst="rect">
            <a:avLst/>
          </a:prstGeom>
          <a:noFill/>
        </p:spPr>
        <p:txBody>
          <a:bodyPr vert="horz" lIns="36576" tIns="18288" rIns="36576" bIns="18288" rtlCol="0">
            <a:spAutoFit/>
          </a:bodyPr>
          <a:lstStyle/>
          <a:p>
            <a:r>
              <a:rPr lang="de-DE" sz="900">
                <a:solidFill>
                  <a:srgbClr val="1D2530"/>
                </a:solidFill>
                <a:latin typeface="Aptos" panose="020B0004020202020204" pitchFamily="34" charset="0"/>
              </a:rPr>
              <a:t>demo</a:t>
            </a:r>
          </a:p>
        </p:txBody>
      </p:sp>
      <p:sp>
        <p:nvSpPr>
          <p:cNvPr id="49" name="Rectangle 48">
            <a:extLst>
              <a:ext uri="{FF2B5EF4-FFF2-40B4-BE49-F238E27FC236}">
                <a16:creationId xmlns:a16="http://schemas.microsoft.com/office/drawing/2014/main" id="{52617FC9-C9D9-8881-0F16-0FA853799398}"/>
              </a:ext>
            </a:extLst>
          </p:cNvPr>
          <p:cNvSpPr/>
          <p:nvPr/>
        </p:nvSpPr>
        <p:spPr>
          <a:xfrm>
            <a:off x="5623560" y="3090672"/>
            <a:ext cx="1417320" cy="420624"/>
          </a:xfrm>
          <a:prstGeom prst="rect">
            <a:avLst/>
          </a:prstGeom>
          <a:solidFill>
            <a:srgbClr val="FFFFFF"/>
          </a:solidFill>
          <a:ln>
            <a:solidFill>
              <a:srgbClr val="D0DAE4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50" name="TextBox 49">
            <a:extLst>
              <a:ext uri="{FF2B5EF4-FFF2-40B4-BE49-F238E27FC236}">
                <a16:creationId xmlns:a16="http://schemas.microsoft.com/office/drawing/2014/main" id="{89FD1F14-C8DC-67EA-ECFF-7C5B8472F8DF}"/>
              </a:ext>
            </a:extLst>
          </p:cNvPr>
          <p:cNvSpPr txBox="1"/>
          <p:nvPr/>
        </p:nvSpPr>
        <p:spPr>
          <a:xfrm>
            <a:off x="5678424" y="3163824"/>
            <a:ext cx="1307592" cy="175433"/>
          </a:xfrm>
          <a:prstGeom prst="rect">
            <a:avLst/>
          </a:prstGeom>
          <a:noFill/>
        </p:spPr>
        <p:txBody>
          <a:bodyPr vert="horz" lIns="36576" tIns="18288" rIns="36576" bIns="18288" rtlCol="0">
            <a:spAutoFit/>
          </a:bodyPr>
          <a:lstStyle/>
          <a:p>
            <a:r>
              <a:rPr lang="de-DE" sz="900">
                <a:solidFill>
                  <a:srgbClr val="1D2530"/>
                </a:solidFill>
                <a:latin typeface="Aptos" panose="020B0004020202020204" pitchFamily="34" charset="0"/>
              </a:rPr>
              <a:t>Materials</a:t>
            </a:r>
          </a:p>
        </p:txBody>
      </p:sp>
      <p:sp>
        <p:nvSpPr>
          <p:cNvPr id="51" name="Rectangle 50">
            <a:extLst>
              <a:ext uri="{FF2B5EF4-FFF2-40B4-BE49-F238E27FC236}">
                <a16:creationId xmlns:a16="http://schemas.microsoft.com/office/drawing/2014/main" id="{E8DA080D-5065-5416-C825-F0AD76A13EDE}"/>
              </a:ext>
            </a:extLst>
          </p:cNvPr>
          <p:cNvSpPr/>
          <p:nvPr/>
        </p:nvSpPr>
        <p:spPr>
          <a:xfrm>
            <a:off x="7040880" y="3090672"/>
            <a:ext cx="594360" cy="420624"/>
          </a:xfrm>
          <a:prstGeom prst="rect">
            <a:avLst/>
          </a:prstGeom>
          <a:solidFill>
            <a:srgbClr val="FFFFFF"/>
          </a:solidFill>
          <a:ln>
            <a:solidFill>
              <a:srgbClr val="D0DAE4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52" name="TextBox 51">
            <a:extLst>
              <a:ext uri="{FF2B5EF4-FFF2-40B4-BE49-F238E27FC236}">
                <a16:creationId xmlns:a16="http://schemas.microsoft.com/office/drawing/2014/main" id="{3DB406F9-2DE7-3705-7FF5-C3B4311D33DE}"/>
              </a:ext>
            </a:extLst>
          </p:cNvPr>
          <p:cNvSpPr txBox="1"/>
          <p:nvPr/>
        </p:nvSpPr>
        <p:spPr>
          <a:xfrm>
            <a:off x="7095744" y="3163824"/>
            <a:ext cx="484632" cy="175433"/>
          </a:xfrm>
          <a:prstGeom prst="rect">
            <a:avLst/>
          </a:prstGeom>
          <a:noFill/>
        </p:spPr>
        <p:txBody>
          <a:bodyPr vert="horz" lIns="36576" tIns="18288" rIns="36576" bIns="18288" rtlCol="0">
            <a:spAutoFit/>
          </a:bodyPr>
          <a:lstStyle/>
          <a:p>
            <a:r>
              <a:rPr lang="de-DE" sz="900">
                <a:solidFill>
                  <a:srgbClr val="1D2530"/>
                </a:solidFill>
                <a:latin typeface="Aptos" panose="020B0004020202020204" pitchFamily="34" charset="0"/>
              </a:rPr>
              <a:t>XLB</a:t>
            </a:r>
          </a:p>
        </p:txBody>
      </p:sp>
      <p:sp>
        <p:nvSpPr>
          <p:cNvPr id="53" name="Rectangle 52">
            <a:extLst>
              <a:ext uri="{FF2B5EF4-FFF2-40B4-BE49-F238E27FC236}">
                <a16:creationId xmlns:a16="http://schemas.microsoft.com/office/drawing/2014/main" id="{30A5B7F1-8E2F-896E-EFC0-7059DA422ECF}"/>
              </a:ext>
            </a:extLst>
          </p:cNvPr>
          <p:cNvSpPr/>
          <p:nvPr/>
        </p:nvSpPr>
        <p:spPr>
          <a:xfrm>
            <a:off x="7635240" y="3090672"/>
            <a:ext cx="594360" cy="420624"/>
          </a:xfrm>
          <a:prstGeom prst="rect">
            <a:avLst/>
          </a:prstGeom>
          <a:solidFill>
            <a:srgbClr val="FFFFFF"/>
          </a:solidFill>
          <a:ln>
            <a:solidFill>
              <a:srgbClr val="D0DAE4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54" name="TextBox 53">
            <a:extLst>
              <a:ext uri="{FF2B5EF4-FFF2-40B4-BE49-F238E27FC236}">
                <a16:creationId xmlns:a16="http://schemas.microsoft.com/office/drawing/2014/main" id="{D4A1B21C-1724-1C21-B4DC-B997B6AB8056}"/>
              </a:ext>
            </a:extLst>
          </p:cNvPr>
          <p:cNvSpPr txBox="1"/>
          <p:nvPr/>
        </p:nvSpPr>
        <p:spPr>
          <a:xfrm>
            <a:off x="7690104" y="3163824"/>
            <a:ext cx="484632" cy="175433"/>
          </a:xfrm>
          <a:prstGeom prst="rect">
            <a:avLst/>
          </a:prstGeom>
          <a:noFill/>
        </p:spPr>
        <p:txBody>
          <a:bodyPr vert="horz" lIns="36576" tIns="18288" rIns="36576" bIns="18288" rtlCol="0">
            <a:spAutoFit/>
          </a:bodyPr>
          <a:lstStyle/>
          <a:p>
            <a:r>
              <a:rPr lang="de-DE" sz="900">
                <a:solidFill>
                  <a:srgbClr val="1D2530"/>
                </a:solidFill>
                <a:latin typeface="Aptos" panose="020B0004020202020204" pitchFamily="34" charset="0"/>
              </a:rPr>
              <a:t>59.8</a:t>
            </a:r>
          </a:p>
        </p:txBody>
      </p:sp>
      <p:sp>
        <p:nvSpPr>
          <p:cNvPr id="55" name="Rectangle 54">
            <a:extLst>
              <a:ext uri="{FF2B5EF4-FFF2-40B4-BE49-F238E27FC236}">
                <a16:creationId xmlns:a16="http://schemas.microsoft.com/office/drawing/2014/main" id="{429B729F-2776-B8C1-B707-D6E187A64CE7}"/>
              </a:ext>
            </a:extLst>
          </p:cNvPr>
          <p:cNvSpPr/>
          <p:nvPr/>
        </p:nvSpPr>
        <p:spPr>
          <a:xfrm>
            <a:off x="8229600" y="3090672"/>
            <a:ext cx="1508760" cy="420624"/>
          </a:xfrm>
          <a:prstGeom prst="rect">
            <a:avLst/>
          </a:prstGeom>
          <a:solidFill>
            <a:srgbClr val="FFFFFF"/>
          </a:solidFill>
          <a:ln>
            <a:solidFill>
              <a:srgbClr val="D0DAE4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56" name="TextBox 55">
            <a:extLst>
              <a:ext uri="{FF2B5EF4-FFF2-40B4-BE49-F238E27FC236}">
                <a16:creationId xmlns:a16="http://schemas.microsoft.com/office/drawing/2014/main" id="{F41AAEA3-999D-AF0C-E611-B48F8EAA841E}"/>
              </a:ext>
            </a:extLst>
          </p:cNvPr>
          <p:cNvSpPr txBox="1"/>
          <p:nvPr/>
        </p:nvSpPr>
        <p:spPr>
          <a:xfrm>
            <a:off x="8284464" y="3163824"/>
            <a:ext cx="1399032" cy="175433"/>
          </a:xfrm>
          <a:prstGeom prst="rect">
            <a:avLst/>
          </a:prstGeom>
          <a:noFill/>
        </p:spPr>
        <p:txBody>
          <a:bodyPr vert="horz" lIns="36576" tIns="18288" rIns="36576" bIns="18288" rtlCol="0">
            <a:spAutoFit/>
          </a:bodyPr>
          <a:lstStyle/>
          <a:p>
            <a:r>
              <a:rPr lang="de-DE" sz="900">
                <a:solidFill>
                  <a:srgbClr val="1D2530"/>
                </a:solidFill>
                <a:latin typeface="Aptos" panose="020B0004020202020204" pitchFamily="34" charset="0"/>
              </a:rPr>
              <a:t>Research Prototype</a:t>
            </a:r>
          </a:p>
        </p:txBody>
      </p:sp>
      <p:sp>
        <p:nvSpPr>
          <p:cNvPr id="57" name="Rectangle 56">
            <a:extLst>
              <a:ext uri="{FF2B5EF4-FFF2-40B4-BE49-F238E27FC236}">
                <a16:creationId xmlns:a16="http://schemas.microsoft.com/office/drawing/2014/main" id="{7800EC86-EE4D-F02B-9CA1-C1DD92885F5B}"/>
              </a:ext>
            </a:extLst>
          </p:cNvPr>
          <p:cNvSpPr/>
          <p:nvPr/>
        </p:nvSpPr>
        <p:spPr>
          <a:xfrm>
            <a:off x="9738360" y="3090672"/>
            <a:ext cx="1005840" cy="420624"/>
          </a:xfrm>
          <a:prstGeom prst="rect">
            <a:avLst/>
          </a:prstGeom>
          <a:solidFill>
            <a:srgbClr val="FFFFFF"/>
          </a:solidFill>
          <a:ln>
            <a:solidFill>
              <a:srgbClr val="D0DAE4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58" name="TextBox 57">
            <a:extLst>
              <a:ext uri="{FF2B5EF4-FFF2-40B4-BE49-F238E27FC236}">
                <a16:creationId xmlns:a16="http://schemas.microsoft.com/office/drawing/2014/main" id="{0A10206C-DE9F-2860-1726-D1974A26C144}"/>
              </a:ext>
            </a:extLst>
          </p:cNvPr>
          <p:cNvSpPr txBox="1"/>
          <p:nvPr/>
        </p:nvSpPr>
        <p:spPr>
          <a:xfrm>
            <a:off x="9793224" y="3163824"/>
            <a:ext cx="896112" cy="175433"/>
          </a:xfrm>
          <a:prstGeom prst="rect">
            <a:avLst/>
          </a:prstGeom>
          <a:noFill/>
        </p:spPr>
        <p:txBody>
          <a:bodyPr vert="horz" lIns="36576" tIns="18288" rIns="36576" bIns="18288" rtlCol="0">
            <a:spAutoFit/>
          </a:bodyPr>
          <a:lstStyle/>
          <a:p>
            <a:r>
              <a:rPr lang="de-DE" sz="900">
                <a:solidFill>
                  <a:srgbClr val="1D2530"/>
                </a:solidFill>
                <a:latin typeface="Aptos" panose="020B0004020202020204" pitchFamily="34" charset="0"/>
              </a:rPr>
              <a:t>demo</a:t>
            </a:r>
          </a:p>
        </p:txBody>
      </p:sp>
      <p:sp>
        <p:nvSpPr>
          <p:cNvPr id="59" name="Rectangle 58">
            <a:extLst>
              <a:ext uri="{FF2B5EF4-FFF2-40B4-BE49-F238E27FC236}">
                <a16:creationId xmlns:a16="http://schemas.microsoft.com/office/drawing/2014/main" id="{D8A8AD05-55A0-317C-2E45-FF7F84A6E1AB}"/>
              </a:ext>
            </a:extLst>
          </p:cNvPr>
          <p:cNvSpPr/>
          <p:nvPr/>
        </p:nvSpPr>
        <p:spPr>
          <a:xfrm>
            <a:off x="5623560" y="3511296"/>
            <a:ext cx="1417320" cy="420624"/>
          </a:xfrm>
          <a:prstGeom prst="rect">
            <a:avLst/>
          </a:prstGeom>
          <a:solidFill>
            <a:srgbClr val="F3F8FB"/>
          </a:solidFill>
          <a:ln>
            <a:solidFill>
              <a:srgbClr val="D0DAE4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60" name="TextBox 59">
            <a:extLst>
              <a:ext uri="{FF2B5EF4-FFF2-40B4-BE49-F238E27FC236}">
                <a16:creationId xmlns:a16="http://schemas.microsoft.com/office/drawing/2014/main" id="{2EB42020-019A-F83E-2C1D-A517F05E53BD}"/>
              </a:ext>
            </a:extLst>
          </p:cNvPr>
          <p:cNvSpPr txBox="1"/>
          <p:nvPr/>
        </p:nvSpPr>
        <p:spPr>
          <a:xfrm>
            <a:off x="5678424" y="3584448"/>
            <a:ext cx="1307592" cy="175433"/>
          </a:xfrm>
          <a:prstGeom prst="rect">
            <a:avLst/>
          </a:prstGeom>
          <a:noFill/>
        </p:spPr>
        <p:txBody>
          <a:bodyPr vert="horz" lIns="36576" tIns="18288" rIns="36576" bIns="18288" rtlCol="0">
            <a:spAutoFit/>
          </a:bodyPr>
          <a:lstStyle/>
          <a:p>
            <a:r>
              <a:rPr lang="de-DE" sz="900">
                <a:solidFill>
                  <a:srgbClr val="1D2530"/>
                </a:solidFill>
                <a:latin typeface="Aptos" panose="020B0004020202020204" pitchFamily="34" charset="0"/>
              </a:rPr>
              <a:t>Healthcare</a:t>
            </a:r>
          </a:p>
        </p:txBody>
      </p:sp>
      <p:sp>
        <p:nvSpPr>
          <p:cNvPr id="61" name="Rectangle 60">
            <a:extLst>
              <a:ext uri="{FF2B5EF4-FFF2-40B4-BE49-F238E27FC236}">
                <a16:creationId xmlns:a16="http://schemas.microsoft.com/office/drawing/2014/main" id="{AE97759C-2941-DEE4-8188-B8BA3384EF4B}"/>
              </a:ext>
            </a:extLst>
          </p:cNvPr>
          <p:cNvSpPr/>
          <p:nvPr/>
        </p:nvSpPr>
        <p:spPr>
          <a:xfrm>
            <a:off x="7040880" y="3511296"/>
            <a:ext cx="594360" cy="420624"/>
          </a:xfrm>
          <a:prstGeom prst="rect">
            <a:avLst/>
          </a:prstGeom>
          <a:solidFill>
            <a:srgbClr val="F3F8FB"/>
          </a:solidFill>
          <a:ln>
            <a:solidFill>
              <a:srgbClr val="D0DAE4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62" name="TextBox 61">
            <a:extLst>
              <a:ext uri="{FF2B5EF4-FFF2-40B4-BE49-F238E27FC236}">
                <a16:creationId xmlns:a16="http://schemas.microsoft.com/office/drawing/2014/main" id="{05445EAD-DF1F-CEDB-877F-57B6676CB802}"/>
              </a:ext>
            </a:extLst>
          </p:cNvPr>
          <p:cNvSpPr txBox="1"/>
          <p:nvPr/>
        </p:nvSpPr>
        <p:spPr>
          <a:xfrm>
            <a:off x="7095744" y="3584448"/>
            <a:ext cx="484632" cy="175433"/>
          </a:xfrm>
          <a:prstGeom prst="rect">
            <a:avLst/>
          </a:prstGeom>
          <a:noFill/>
        </p:spPr>
        <p:txBody>
          <a:bodyPr vert="horz" lIns="36576" tIns="18288" rIns="36576" bIns="18288" rtlCol="0">
            <a:spAutoFit/>
          </a:bodyPr>
          <a:lstStyle/>
          <a:p>
            <a:r>
              <a:rPr lang="de-DE" sz="900">
                <a:solidFill>
                  <a:srgbClr val="1D2530"/>
                </a:solidFill>
                <a:latin typeface="Aptos" panose="020B0004020202020204" pitchFamily="34" charset="0"/>
              </a:rPr>
              <a:t>XLV</a:t>
            </a:r>
          </a:p>
        </p:txBody>
      </p:sp>
      <p:sp>
        <p:nvSpPr>
          <p:cNvPr id="63" name="Rectangle 62">
            <a:extLst>
              <a:ext uri="{FF2B5EF4-FFF2-40B4-BE49-F238E27FC236}">
                <a16:creationId xmlns:a16="http://schemas.microsoft.com/office/drawing/2014/main" id="{108764BF-F2E0-B961-E52D-34B27C599DC0}"/>
              </a:ext>
            </a:extLst>
          </p:cNvPr>
          <p:cNvSpPr/>
          <p:nvPr/>
        </p:nvSpPr>
        <p:spPr>
          <a:xfrm>
            <a:off x="7635240" y="3511296"/>
            <a:ext cx="594360" cy="420624"/>
          </a:xfrm>
          <a:prstGeom prst="rect">
            <a:avLst/>
          </a:prstGeom>
          <a:solidFill>
            <a:srgbClr val="F3F8FB"/>
          </a:solidFill>
          <a:ln>
            <a:solidFill>
              <a:srgbClr val="D0DAE4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64" name="TextBox 63">
            <a:extLst>
              <a:ext uri="{FF2B5EF4-FFF2-40B4-BE49-F238E27FC236}">
                <a16:creationId xmlns:a16="http://schemas.microsoft.com/office/drawing/2014/main" id="{309033AF-8B05-01BE-9094-90541BE89065}"/>
              </a:ext>
            </a:extLst>
          </p:cNvPr>
          <p:cNvSpPr txBox="1"/>
          <p:nvPr/>
        </p:nvSpPr>
        <p:spPr>
          <a:xfrm>
            <a:off x="7690104" y="3584448"/>
            <a:ext cx="484632" cy="175433"/>
          </a:xfrm>
          <a:prstGeom prst="rect">
            <a:avLst/>
          </a:prstGeom>
          <a:noFill/>
        </p:spPr>
        <p:txBody>
          <a:bodyPr vert="horz" lIns="36576" tIns="18288" rIns="36576" bIns="18288" rtlCol="0">
            <a:spAutoFit/>
          </a:bodyPr>
          <a:lstStyle/>
          <a:p>
            <a:r>
              <a:rPr lang="de-DE" sz="900">
                <a:solidFill>
                  <a:srgbClr val="1D2530"/>
                </a:solidFill>
                <a:latin typeface="Aptos" panose="020B0004020202020204" pitchFamily="34" charset="0"/>
              </a:rPr>
              <a:t>57.9</a:t>
            </a:r>
          </a:p>
        </p:txBody>
      </p:sp>
      <p:sp>
        <p:nvSpPr>
          <p:cNvPr id="65" name="Rectangle 64">
            <a:extLst>
              <a:ext uri="{FF2B5EF4-FFF2-40B4-BE49-F238E27FC236}">
                <a16:creationId xmlns:a16="http://schemas.microsoft.com/office/drawing/2014/main" id="{C5520A7F-D65C-0B15-DC5E-CB5491422844}"/>
              </a:ext>
            </a:extLst>
          </p:cNvPr>
          <p:cNvSpPr/>
          <p:nvPr/>
        </p:nvSpPr>
        <p:spPr>
          <a:xfrm>
            <a:off x="8229600" y="3511296"/>
            <a:ext cx="1508760" cy="420624"/>
          </a:xfrm>
          <a:prstGeom prst="rect">
            <a:avLst/>
          </a:prstGeom>
          <a:solidFill>
            <a:srgbClr val="F3F8FB"/>
          </a:solidFill>
          <a:ln>
            <a:solidFill>
              <a:srgbClr val="D0DAE4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66" name="TextBox 65">
            <a:extLst>
              <a:ext uri="{FF2B5EF4-FFF2-40B4-BE49-F238E27FC236}">
                <a16:creationId xmlns:a16="http://schemas.microsoft.com/office/drawing/2014/main" id="{9413F7F6-A4A9-DEFF-E455-C34BDA80B7D7}"/>
              </a:ext>
            </a:extLst>
          </p:cNvPr>
          <p:cNvSpPr txBox="1"/>
          <p:nvPr/>
        </p:nvSpPr>
        <p:spPr>
          <a:xfrm>
            <a:off x="8284464" y="3584448"/>
            <a:ext cx="1399032" cy="175433"/>
          </a:xfrm>
          <a:prstGeom prst="rect">
            <a:avLst/>
          </a:prstGeom>
          <a:noFill/>
        </p:spPr>
        <p:txBody>
          <a:bodyPr vert="horz" lIns="36576" tIns="18288" rIns="36576" bIns="18288" rtlCol="0">
            <a:spAutoFit/>
          </a:bodyPr>
          <a:lstStyle/>
          <a:p>
            <a:r>
              <a:rPr lang="de-DE" sz="900">
                <a:solidFill>
                  <a:srgbClr val="1D2530"/>
                </a:solidFill>
                <a:latin typeface="Aptos" panose="020B0004020202020204" pitchFamily="34" charset="0"/>
              </a:rPr>
              <a:t>Research Prototype</a:t>
            </a:r>
          </a:p>
        </p:txBody>
      </p:sp>
      <p:sp>
        <p:nvSpPr>
          <p:cNvPr id="67" name="Rectangle 66">
            <a:extLst>
              <a:ext uri="{FF2B5EF4-FFF2-40B4-BE49-F238E27FC236}">
                <a16:creationId xmlns:a16="http://schemas.microsoft.com/office/drawing/2014/main" id="{C158007C-6F6E-B79D-1631-40E57848D86E}"/>
              </a:ext>
            </a:extLst>
          </p:cNvPr>
          <p:cNvSpPr/>
          <p:nvPr/>
        </p:nvSpPr>
        <p:spPr>
          <a:xfrm>
            <a:off x="9738360" y="3511296"/>
            <a:ext cx="1005840" cy="420624"/>
          </a:xfrm>
          <a:prstGeom prst="rect">
            <a:avLst/>
          </a:prstGeom>
          <a:solidFill>
            <a:srgbClr val="F3F8FB"/>
          </a:solidFill>
          <a:ln>
            <a:solidFill>
              <a:srgbClr val="D0DAE4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68" name="TextBox 67">
            <a:extLst>
              <a:ext uri="{FF2B5EF4-FFF2-40B4-BE49-F238E27FC236}">
                <a16:creationId xmlns:a16="http://schemas.microsoft.com/office/drawing/2014/main" id="{D9470500-E64E-E170-3FBE-F2E6256D2960}"/>
              </a:ext>
            </a:extLst>
          </p:cNvPr>
          <p:cNvSpPr txBox="1"/>
          <p:nvPr/>
        </p:nvSpPr>
        <p:spPr>
          <a:xfrm>
            <a:off x="9793224" y="3584448"/>
            <a:ext cx="896112" cy="175433"/>
          </a:xfrm>
          <a:prstGeom prst="rect">
            <a:avLst/>
          </a:prstGeom>
          <a:noFill/>
        </p:spPr>
        <p:txBody>
          <a:bodyPr vert="horz" lIns="36576" tIns="18288" rIns="36576" bIns="18288" rtlCol="0">
            <a:spAutoFit/>
          </a:bodyPr>
          <a:lstStyle/>
          <a:p>
            <a:r>
              <a:rPr lang="de-DE" sz="900">
                <a:solidFill>
                  <a:srgbClr val="1D2530"/>
                </a:solidFill>
                <a:latin typeface="Aptos" panose="020B0004020202020204" pitchFamily="34" charset="0"/>
              </a:rPr>
              <a:t>demo</a:t>
            </a:r>
          </a:p>
        </p:txBody>
      </p:sp>
      <p:sp>
        <p:nvSpPr>
          <p:cNvPr id="69" name="Rectangle 68">
            <a:extLst>
              <a:ext uri="{FF2B5EF4-FFF2-40B4-BE49-F238E27FC236}">
                <a16:creationId xmlns:a16="http://schemas.microsoft.com/office/drawing/2014/main" id="{C91735DB-299F-3364-5F9C-8C943DEAFF39}"/>
              </a:ext>
            </a:extLst>
          </p:cNvPr>
          <p:cNvSpPr/>
          <p:nvPr/>
        </p:nvSpPr>
        <p:spPr>
          <a:xfrm>
            <a:off x="5623560" y="3931920"/>
            <a:ext cx="1417320" cy="420624"/>
          </a:xfrm>
          <a:prstGeom prst="rect">
            <a:avLst/>
          </a:prstGeom>
          <a:solidFill>
            <a:srgbClr val="FFFFFF"/>
          </a:solidFill>
          <a:ln>
            <a:solidFill>
              <a:srgbClr val="D0DAE4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70" name="TextBox 69">
            <a:extLst>
              <a:ext uri="{FF2B5EF4-FFF2-40B4-BE49-F238E27FC236}">
                <a16:creationId xmlns:a16="http://schemas.microsoft.com/office/drawing/2014/main" id="{9C617FB0-7C10-ECF3-D5D9-1B8465F64985}"/>
              </a:ext>
            </a:extLst>
          </p:cNvPr>
          <p:cNvSpPr txBox="1"/>
          <p:nvPr/>
        </p:nvSpPr>
        <p:spPr>
          <a:xfrm>
            <a:off x="5678424" y="4005072"/>
            <a:ext cx="1307592" cy="175433"/>
          </a:xfrm>
          <a:prstGeom prst="rect">
            <a:avLst/>
          </a:prstGeom>
          <a:noFill/>
        </p:spPr>
        <p:txBody>
          <a:bodyPr vert="horz" lIns="36576" tIns="18288" rIns="36576" bIns="18288" rtlCol="0">
            <a:spAutoFit/>
          </a:bodyPr>
          <a:lstStyle/>
          <a:p>
            <a:r>
              <a:rPr lang="de-DE" sz="900">
                <a:solidFill>
                  <a:srgbClr val="1D2530"/>
                </a:solidFill>
                <a:latin typeface="Aptos" panose="020B0004020202020204" pitchFamily="34" charset="0"/>
              </a:rPr>
              <a:t>Technology</a:t>
            </a:r>
          </a:p>
        </p:txBody>
      </p:sp>
      <p:sp>
        <p:nvSpPr>
          <p:cNvPr id="71" name="Rectangle 70">
            <a:extLst>
              <a:ext uri="{FF2B5EF4-FFF2-40B4-BE49-F238E27FC236}">
                <a16:creationId xmlns:a16="http://schemas.microsoft.com/office/drawing/2014/main" id="{801D59A0-0AEA-CB5B-6123-687ED7CD4968}"/>
              </a:ext>
            </a:extLst>
          </p:cNvPr>
          <p:cNvSpPr/>
          <p:nvPr/>
        </p:nvSpPr>
        <p:spPr>
          <a:xfrm>
            <a:off x="7040880" y="3931920"/>
            <a:ext cx="594360" cy="420624"/>
          </a:xfrm>
          <a:prstGeom prst="rect">
            <a:avLst/>
          </a:prstGeom>
          <a:solidFill>
            <a:srgbClr val="FFFFFF"/>
          </a:solidFill>
          <a:ln>
            <a:solidFill>
              <a:srgbClr val="D0DAE4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72" name="TextBox 71">
            <a:extLst>
              <a:ext uri="{FF2B5EF4-FFF2-40B4-BE49-F238E27FC236}">
                <a16:creationId xmlns:a16="http://schemas.microsoft.com/office/drawing/2014/main" id="{7FADFFD1-EF67-BEB9-CF90-DEB6B522A5C5}"/>
              </a:ext>
            </a:extLst>
          </p:cNvPr>
          <p:cNvSpPr txBox="1"/>
          <p:nvPr/>
        </p:nvSpPr>
        <p:spPr>
          <a:xfrm>
            <a:off x="7095744" y="4005072"/>
            <a:ext cx="484632" cy="175433"/>
          </a:xfrm>
          <a:prstGeom prst="rect">
            <a:avLst/>
          </a:prstGeom>
          <a:noFill/>
        </p:spPr>
        <p:txBody>
          <a:bodyPr vert="horz" lIns="36576" tIns="18288" rIns="36576" bIns="18288" rtlCol="0">
            <a:spAutoFit/>
          </a:bodyPr>
          <a:lstStyle/>
          <a:p>
            <a:r>
              <a:rPr lang="de-DE" sz="900">
                <a:solidFill>
                  <a:srgbClr val="1D2530"/>
                </a:solidFill>
                <a:latin typeface="Aptos" panose="020B0004020202020204" pitchFamily="34" charset="0"/>
              </a:rPr>
              <a:t>XLK</a:t>
            </a:r>
          </a:p>
        </p:txBody>
      </p:sp>
      <p:sp>
        <p:nvSpPr>
          <p:cNvPr id="73" name="Rectangle 72">
            <a:extLst>
              <a:ext uri="{FF2B5EF4-FFF2-40B4-BE49-F238E27FC236}">
                <a16:creationId xmlns:a16="http://schemas.microsoft.com/office/drawing/2014/main" id="{DE2BFA2F-6732-1D8E-F2CB-A732EEDEEE06}"/>
              </a:ext>
            </a:extLst>
          </p:cNvPr>
          <p:cNvSpPr/>
          <p:nvPr/>
        </p:nvSpPr>
        <p:spPr>
          <a:xfrm>
            <a:off x="7635240" y="3931920"/>
            <a:ext cx="594360" cy="420624"/>
          </a:xfrm>
          <a:prstGeom prst="rect">
            <a:avLst/>
          </a:prstGeom>
          <a:solidFill>
            <a:srgbClr val="FFFFFF"/>
          </a:solidFill>
          <a:ln>
            <a:solidFill>
              <a:srgbClr val="D0DAE4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74" name="TextBox 73">
            <a:extLst>
              <a:ext uri="{FF2B5EF4-FFF2-40B4-BE49-F238E27FC236}">
                <a16:creationId xmlns:a16="http://schemas.microsoft.com/office/drawing/2014/main" id="{6ACC62BE-EC56-215A-1D12-046896A6B1B6}"/>
              </a:ext>
            </a:extLst>
          </p:cNvPr>
          <p:cNvSpPr txBox="1"/>
          <p:nvPr/>
        </p:nvSpPr>
        <p:spPr>
          <a:xfrm>
            <a:off x="7690104" y="4005072"/>
            <a:ext cx="484632" cy="175433"/>
          </a:xfrm>
          <a:prstGeom prst="rect">
            <a:avLst/>
          </a:prstGeom>
          <a:noFill/>
        </p:spPr>
        <p:txBody>
          <a:bodyPr vert="horz" lIns="36576" tIns="18288" rIns="36576" bIns="18288" rtlCol="0">
            <a:spAutoFit/>
          </a:bodyPr>
          <a:lstStyle/>
          <a:p>
            <a:r>
              <a:rPr lang="de-DE" sz="900">
                <a:solidFill>
                  <a:srgbClr val="1D2530"/>
                </a:solidFill>
                <a:latin typeface="Aptos" panose="020B0004020202020204" pitchFamily="34" charset="0"/>
              </a:rPr>
              <a:t>57.0</a:t>
            </a:r>
          </a:p>
        </p:txBody>
      </p:sp>
      <p:sp>
        <p:nvSpPr>
          <p:cNvPr id="75" name="Rectangle 74">
            <a:extLst>
              <a:ext uri="{FF2B5EF4-FFF2-40B4-BE49-F238E27FC236}">
                <a16:creationId xmlns:a16="http://schemas.microsoft.com/office/drawing/2014/main" id="{DFD3C599-BBDC-0EE9-BC63-ABCAB8AAC3E2}"/>
              </a:ext>
            </a:extLst>
          </p:cNvPr>
          <p:cNvSpPr/>
          <p:nvPr/>
        </p:nvSpPr>
        <p:spPr>
          <a:xfrm>
            <a:off x="8229600" y="3931920"/>
            <a:ext cx="1508760" cy="420624"/>
          </a:xfrm>
          <a:prstGeom prst="rect">
            <a:avLst/>
          </a:prstGeom>
          <a:solidFill>
            <a:srgbClr val="FFFFFF"/>
          </a:solidFill>
          <a:ln>
            <a:solidFill>
              <a:srgbClr val="D0DAE4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76" name="TextBox 75">
            <a:extLst>
              <a:ext uri="{FF2B5EF4-FFF2-40B4-BE49-F238E27FC236}">
                <a16:creationId xmlns:a16="http://schemas.microsoft.com/office/drawing/2014/main" id="{8F772043-1D64-EABD-6295-57421B2C397C}"/>
              </a:ext>
            </a:extLst>
          </p:cNvPr>
          <p:cNvSpPr txBox="1"/>
          <p:nvPr/>
        </p:nvSpPr>
        <p:spPr>
          <a:xfrm>
            <a:off x="8284464" y="4005072"/>
            <a:ext cx="1399032" cy="175433"/>
          </a:xfrm>
          <a:prstGeom prst="rect">
            <a:avLst/>
          </a:prstGeom>
          <a:noFill/>
        </p:spPr>
        <p:txBody>
          <a:bodyPr vert="horz" lIns="36576" tIns="18288" rIns="36576" bIns="18288" rtlCol="0">
            <a:spAutoFit/>
          </a:bodyPr>
          <a:lstStyle/>
          <a:p>
            <a:r>
              <a:rPr lang="de-DE" sz="900">
                <a:solidFill>
                  <a:srgbClr val="1D2530"/>
                </a:solidFill>
                <a:latin typeface="Aptos" panose="020B0004020202020204" pitchFamily="34" charset="0"/>
              </a:rPr>
              <a:t>Research Prototype</a:t>
            </a:r>
          </a:p>
        </p:txBody>
      </p:sp>
      <p:sp>
        <p:nvSpPr>
          <p:cNvPr id="77" name="Rectangle 76">
            <a:extLst>
              <a:ext uri="{FF2B5EF4-FFF2-40B4-BE49-F238E27FC236}">
                <a16:creationId xmlns:a16="http://schemas.microsoft.com/office/drawing/2014/main" id="{27AF355A-048C-D6F7-8D2A-81163C52F37B}"/>
              </a:ext>
            </a:extLst>
          </p:cNvPr>
          <p:cNvSpPr/>
          <p:nvPr/>
        </p:nvSpPr>
        <p:spPr>
          <a:xfrm>
            <a:off x="9738360" y="3931920"/>
            <a:ext cx="1005840" cy="420624"/>
          </a:xfrm>
          <a:prstGeom prst="rect">
            <a:avLst/>
          </a:prstGeom>
          <a:solidFill>
            <a:srgbClr val="FFFFFF"/>
          </a:solidFill>
          <a:ln>
            <a:solidFill>
              <a:srgbClr val="D0DAE4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78" name="TextBox 77">
            <a:extLst>
              <a:ext uri="{FF2B5EF4-FFF2-40B4-BE49-F238E27FC236}">
                <a16:creationId xmlns:a16="http://schemas.microsoft.com/office/drawing/2014/main" id="{75CC96DC-D405-E444-1FAA-64B035B8080D}"/>
              </a:ext>
            </a:extLst>
          </p:cNvPr>
          <p:cNvSpPr txBox="1"/>
          <p:nvPr/>
        </p:nvSpPr>
        <p:spPr>
          <a:xfrm>
            <a:off x="9793224" y="4005072"/>
            <a:ext cx="896112" cy="175433"/>
          </a:xfrm>
          <a:prstGeom prst="rect">
            <a:avLst/>
          </a:prstGeom>
          <a:noFill/>
        </p:spPr>
        <p:txBody>
          <a:bodyPr vert="horz" lIns="36576" tIns="18288" rIns="36576" bIns="18288" rtlCol="0">
            <a:spAutoFit/>
          </a:bodyPr>
          <a:lstStyle/>
          <a:p>
            <a:r>
              <a:rPr lang="de-DE" sz="900">
                <a:solidFill>
                  <a:srgbClr val="1D2530"/>
                </a:solidFill>
                <a:latin typeface="Aptos" panose="020B0004020202020204" pitchFamily="34" charset="0"/>
              </a:rPr>
              <a:t>demo</a:t>
            </a:r>
          </a:p>
        </p:txBody>
      </p:sp>
      <p:sp>
        <p:nvSpPr>
          <p:cNvPr id="79" name="TextBox 78">
            <a:extLst>
              <a:ext uri="{FF2B5EF4-FFF2-40B4-BE49-F238E27FC236}">
                <a16:creationId xmlns:a16="http://schemas.microsoft.com/office/drawing/2014/main" id="{700A7D60-5B83-A22D-8E11-17C8B067E42C}"/>
              </a:ext>
            </a:extLst>
          </p:cNvPr>
          <p:cNvSpPr txBox="1"/>
          <p:nvPr/>
        </p:nvSpPr>
        <p:spPr>
          <a:xfrm>
            <a:off x="749808" y="4434840"/>
            <a:ext cx="2560320" cy="252377"/>
          </a:xfrm>
          <a:prstGeom prst="rect">
            <a:avLst/>
          </a:prstGeom>
          <a:noFill/>
        </p:spPr>
        <p:txBody>
          <a:bodyPr vert="horz" lIns="36576" tIns="18288" rIns="36576" bIns="18288" rtlCol="0">
            <a:spAutoFit/>
          </a:bodyPr>
          <a:lstStyle/>
          <a:p>
            <a:r>
              <a:rPr lang="de-DE" sz="1400" b="1">
                <a:solidFill>
                  <a:srgbClr val="1D2530"/>
                </a:solidFill>
                <a:latin typeface="Aptos" panose="020B0004020202020204" pitchFamily="34" charset="0"/>
              </a:rPr>
              <a:t>Interpretation guardrails</a:t>
            </a:r>
          </a:p>
        </p:txBody>
      </p:sp>
      <p:sp>
        <p:nvSpPr>
          <p:cNvPr id="80" name="Rectangle 79">
            <a:extLst>
              <a:ext uri="{FF2B5EF4-FFF2-40B4-BE49-F238E27FC236}">
                <a16:creationId xmlns:a16="http://schemas.microsoft.com/office/drawing/2014/main" id="{344F5EF2-9E92-C95B-BC46-E5811165B506}"/>
              </a:ext>
            </a:extLst>
          </p:cNvPr>
          <p:cNvSpPr/>
          <p:nvPr/>
        </p:nvSpPr>
        <p:spPr>
          <a:xfrm>
            <a:off x="841248" y="4873752"/>
            <a:ext cx="64008" cy="64008"/>
          </a:xfrm>
          <a:prstGeom prst="rect">
            <a:avLst/>
          </a:prstGeom>
          <a:solidFill>
            <a:srgbClr val="187D9F"/>
          </a:solidFill>
          <a:ln>
            <a:solidFill>
              <a:srgbClr val="187D9F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81" name="TextBox 80">
            <a:extLst>
              <a:ext uri="{FF2B5EF4-FFF2-40B4-BE49-F238E27FC236}">
                <a16:creationId xmlns:a16="http://schemas.microsoft.com/office/drawing/2014/main" id="{2BD08802-17F3-6137-F5F2-5FEB8385347D}"/>
              </a:ext>
            </a:extLst>
          </p:cNvPr>
          <p:cNvSpPr txBox="1"/>
          <p:nvPr/>
        </p:nvSpPr>
        <p:spPr>
          <a:xfrm>
            <a:off x="1005840" y="4800600"/>
            <a:ext cx="4498848" cy="437043"/>
          </a:xfrm>
          <a:prstGeom prst="rect">
            <a:avLst/>
          </a:prstGeom>
          <a:noFill/>
        </p:spPr>
        <p:txBody>
          <a:bodyPr vert="horz" lIns="36576" tIns="18288" rIns="36576" bIns="18288" rtlCol="0">
            <a:spAutoFit/>
          </a:bodyPr>
          <a:lstStyle/>
          <a:p>
            <a:r>
              <a:rPr lang="en-US" sz="1300">
                <a:solidFill>
                  <a:srgbClr val="1D2530"/>
                </a:solidFill>
                <a:latin typeface="Aptos" panose="020B0004020202020204" pitchFamily="34" charset="0"/>
              </a:rPr>
              <a:t>Demo trend data forces Prototype only / Not actionable status.</a:t>
            </a:r>
            <a:endParaRPr lang="de-DE" sz="1300">
              <a:solidFill>
                <a:srgbClr val="1D2530"/>
              </a:solidFill>
              <a:latin typeface="Aptos" panose="020B0004020202020204" pitchFamily="34" charset="0"/>
            </a:endParaRPr>
          </a:p>
        </p:txBody>
      </p:sp>
      <p:sp>
        <p:nvSpPr>
          <p:cNvPr id="82" name="Rectangle 81">
            <a:extLst>
              <a:ext uri="{FF2B5EF4-FFF2-40B4-BE49-F238E27FC236}">
                <a16:creationId xmlns:a16="http://schemas.microsoft.com/office/drawing/2014/main" id="{62C7D77D-BBE3-04B3-BBD3-4B1E80206EBF}"/>
              </a:ext>
            </a:extLst>
          </p:cNvPr>
          <p:cNvSpPr/>
          <p:nvPr/>
        </p:nvSpPr>
        <p:spPr>
          <a:xfrm>
            <a:off x="841248" y="5303520"/>
            <a:ext cx="64008" cy="64008"/>
          </a:xfrm>
          <a:prstGeom prst="rect">
            <a:avLst/>
          </a:prstGeom>
          <a:solidFill>
            <a:srgbClr val="187D9F"/>
          </a:solidFill>
          <a:ln>
            <a:solidFill>
              <a:srgbClr val="187D9F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83" name="TextBox 82">
            <a:extLst>
              <a:ext uri="{FF2B5EF4-FFF2-40B4-BE49-F238E27FC236}">
                <a16:creationId xmlns:a16="http://schemas.microsoft.com/office/drawing/2014/main" id="{E78735B3-AE6F-0861-1ECC-946E900AD5B6}"/>
              </a:ext>
            </a:extLst>
          </p:cNvPr>
          <p:cNvSpPr txBox="1"/>
          <p:nvPr/>
        </p:nvSpPr>
        <p:spPr>
          <a:xfrm>
            <a:off x="1005840" y="5230368"/>
            <a:ext cx="4498848" cy="437043"/>
          </a:xfrm>
          <a:prstGeom prst="rect">
            <a:avLst/>
          </a:prstGeom>
          <a:noFill/>
        </p:spPr>
        <p:txBody>
          <a:bodyPr vert="horz" lIns="36576" tIns="18288" rIns="36576" bIns="18288" rtlCol="0">
            <a:spAutoFit/>
          </a:bodyPr>
          <a:lstStyle/>
          <a:p>
            <a:r>
              <a:rPr lang="en-US" sz="1300">
                <a:solidFill>
                  <a:srgbClr val="1D2530"/>
                </a:solidFill>
                <a:latin typeface="Aptos" panose="020B0004020202020204" pitchFamily="34" charset="0"/>
              </a:rPr>
              <a:t>Recommendation labels are research labels; no buy/sell/order execution logic exists.</a:t>
            </a:r>
            <a:endParaRPr lang="de-DE" sz="1300">
              <a:solidFill>
                <a:srgbClr val="1D2530"/>
              </a:solidFill>
              <a:latin typeface="Aptos" panose="020B0004020202020204" pitchFamily="34" charset="0"/>
            </a:endParaRPr>
          </a:p>
        </p:txBody>
      </p:sp>
      <p:sp>
        <p:nvSpPr>
          <p:cNvPr id="84" name="Rectangle 83">
            <a:extLst>
              <a:ext uri="{FF2B5EF4-FFF2-40B4-BE49-F238E27FC236}">
                <a16:creationId xmlns:a16="http://schemas.microsoft.com/office/drawing/2014/main" id="{383A8AA9-4606-70E7-0BF0-E0812A8E4EBC}"/>
              </a:ext>
            </a:extLst>
          </p:cNvPr>
          <p:cNvSpPr/>
          <p:nvPr/>
        </p:nvSpPr>
        <p:spPr>
          <a:xfrm>
            <a:off x="841248" y="5733288"/>
            <a:ext cx="64008" cy="64008"/>
          </a:xfrm>
          <a:prstGeom prst="rect">
            <a:avLst/>
          </a:prstGeom>
          <a:solidFill>
            <a:srgbClr val="187D9F"/>
          </a:solidFill>
          <a:ln>
            <a:solidFill>
              <a:srgbClr val="187D9F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85" name="TextBox 84">
            <a:extLst>
              <a:ext uri="{FF2B5EF4-FFF2-40B4-BE49-F238E27FC236}">
                <a16:creationId xmlns:a16="http://schemas.microsoft.com/office/drawing/2014/main" id="{DC4EB9F7-41AC-366A-8DB6-4BA8F79F6797}"/>
              </a:ext>
            </a:extLst>
          </p:cNvPr>
          <p:cNvSpPr txBox="1"/>
          <p:nvPr/>
        </p:nvSpPr>
        <p:spPr>
          <a:xfrm>
            <a:off x="1005840" y="5660136"/>
            <a:ext cx="4498848" cy="437043"/>
          </a:xfrm>
          <a:prstGeom prst="rect">
            <a:avLst/>
          </a:prstGeom>
          <a:noFill/>
        </p:spPr>
        <p:txBody>
          <a:bodyPr vert="horz" lIns="36576" tIns="18288" rIns="36576" bIns="18288" rtlCol="0">
            <a:spAutoFit/>
          </a:bodyPr>
          <a:lstStyle/>
          <a:p>
            <a:r>
              <a:rPr lang="en-US" sz="1300">
                <a:solidFill>
                  <a:srgbClr val="1D2530"/>
                </a:solidFill>
                <a:latin typeface="Aptos" panose="020B0004020202020204" pitchFamily="34" charset="0"/>
              </a:rPr>
              <a:t>Human analyst review is required before any decision-support use.</a:t>
            </a:r>
            <a:endParaRPr lang="de-DE" sz="1300">
              <a:solidFill>
                <a:srgbClr val="1D2530"/>
              </a:solidFill>
              <a:latin typeface="Aptos" panose="020B0004020202020204" pitchFamily="34" charset="0"/>
            </a:endParaRPr>
          </a:p>
        </p:txBody>
      </p:sp>
      <p:cxnSp>
        <p:nvCxnSpPr>
          <p:cNvPr id="86" name="Straight Connector 85">
            <a:extLst>
              <a:ext uri="{FF2B5EF4-FFF2-40B4-BE49-F238E27FC236}">
                <a16:creationId xmlns:a16="http://schemas.microsoft.com/office/drawing/2014/main" id="{FB2D8151-067E-7B38-DA71-8E1083F1E6C2}"/>
              </a:ext>
            </a:extLst>
          </p:cNvPr>
          <p:cNvCxnSpPr/>
          <p:nvPr/>
        </p:nvCxnSpPr>
        <p:spPr>
          <a:xfrm>
            <a:off x="530352" y="6446520"/>
            <a:ext cx="11128248" cy="0"/>
          </a:xfrm>
          <a:prstGeom prst="line">
            <a:avLst/>
          </a:prstGeom>
          <a:ln w="10160">
            <a:solidFill>
              <a:srgbClr val="C4CED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7" name="TextBox 86">
            <a:extLst>
              <a:ext uri="{FF2B5EF4-FFF2-40B4-BE49-F238E27FC236}">
                <a16:creationId xmlns:a16="http://schemas.microsoft.com/office/drawing/2014/main" id="{3E4C56D2-A5ED-F8C5-8F4E-66F34374CC72}"/>
              </a:ext>
            </a:extLst>
          </p:cNvPr>
          <p:cNvSpPr txBox="1"/>
          <p:nvPr/>
        </p:nvSpPr>
        <p:spPr>
          <a:xfrm>
            <a:off x="530352" y="6492240"/>
            <a:ext cx="6766560" cy="160044"/>
          </a:xfrm>
          <a:prstGeom prst="rect">
            <a:avLst/>
          </a:prstGeom>
          <a:noFill/>
        </p:spPr>
        <p:txBody>
          <a:bodyPr vert="horz" lIns="36576" tIns="18288" rIns="36576" bIns="18288" rtlCol="0">
            <a:spAutoFit/>
          </a:bodyPr>
          <a:lstStyle/>
          <a:p>
            <a:r>
              <a:rPr lang="en-US" sz="800">
                <a:solidFill>
                  <a:srgbClr val="9CA9B6"/>
                </a:solidFill>
                <a:latin typeface="Aptos" panose="020B0004020202020204" pitchFamily="34" charset="0"/>
              </a:rPr>
              <a:t>Decision support only · No autonomous trading · Not financial advice</a:t>
            </a:r>
            <a:endParaRPr lang="de-DE" sz="800">
              <a:solidFill>
                <a:srgbClr val="9CA9B6"/>
              </a:solidFill>
              <a:latin typeface="Aptos" panose="020B0004020202020204" pitchFamily="34" charset="0"/>
            </a:endParaRPr>
          </a:p>
        </p:txBody>
      </p:sp>
      <p:sp>
        <p:nvSpPr>
          <p:cNvPr id="88" name="TextBox 87">
            <a:extLst>
              <a:ext uri="{FF2B5EF4-FFF2-40B4-BE49-F238E27FC236}">
                <a16:creationId xmlns:a16="http://schemas.microsoft.com/office/drawing/2014/main" id="{3EEE0FAF-0548-ECD4-82CD-494B22C454EF}"/>
              </a:ext>
            </a:extLst>
          </p:cNvPr>
          <p:cNvSpPr txBox="1"/>
          <p:nvPr/>
        </p:nvSpPr>
        <p:spPr>
          <a:xfrm>
            <a:off x="11201400" y="6492240"/>
            <a:ext cx="457200" cy="160044"/>
          </a:xfrm>
          <a:prstGeom prst="rect">
            <a:avLst/>
          </a:prstGeom>
          <a:noFill/>
        </p:spPr>
        <p:txBody>
          <a:bodyPr vert="horz" lIns="36576" tIns="18288" rIns="36576" bIns="18288" rtlCol="0">
            <a:spAutoFit/>
          </a:bodyPr>
          <a:lstStyle/>
          <a:p>
            <a:r>
              <a:rPr lang="de-DE" sz="800">
                <a:solidFill>
                  <a:srgbClr val="9CA9B6"/>
                </a:solidFill>
                <a:latin typeface="Aptos" panose="020B0004020202020204" pitchFamily="34" charset="0"/>
              </a:rPr>
              <a:t>3/5</a:t>
            </a:r>
          </a:p>
        </p:txBody>
      </p:sp>
    </p:spTree>
    <p:extLst>
      <p:ext uri="{BB962C8B-B14F-4D97-AF65-F5344CB8AC3E}">
        <p14:creationId xmlns:p14="http://schemas.microsoft.com/office/powerpoint/2010/main" val="408354099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3164C7CE-9292-634E-96D6-9FFE58C28098}"/>
              </a:ext>
            </a:extLst>
          </p:cNvPr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EAF2F7"/>
          </a:solidFill>
          <a:ln>
            <a:solidFill>
              <a:srgbClr val="EAF2F7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476C0571-6FDA-DDB6-A271-A6054C4B4985}"/>
              </a:ext>
            </a:extLst>
          </p:cNvPr>
          <p:cNvSpPr/>
          <p:nvPr/>
        </p:nvSpPr>
        <p:spPr>
          <a:xfrm>
            <a:off x="530352" y="411480"/>
            <a:ext cx="118872" cy="118872"/>
          </a:xfrm>
          <a:prstGeom prst="rect">
            <a:avLst/>
          </a:prstGeom>
          <a:solidFill>
            <a:srgbClr val="187D9F"/>
          </a:solidFill>
          <a:ln>
            <a:solidFill>
              <a:srgbClr val="187D9F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493854F1-DF03-7EED-C375-6E63841278FC}"/>
              </a:ext>
            </a:extLst>
          </p:cNvPr>
          <p:cNvSpPr txBox="1"/>
          <p:nvPr/>
        </p:nvSpPr>
        <p:spPr>
          <a:xfrm>
            <a:off x="713232" y="338328"/>
            <a:ext cx="2926080" cy="190821"/>
          </a:xfrm>
          <a:prstGeom prst="rect">
            <a:avLst/>
          </a:prstGeom>
          <a:noFill/>
        </p:spPr>
        <p:txBody>
          <a:bodyPr vert="horz" lIns="36576" tIns="18288" rIns="36576" bIns="18288" rtlCol="0">
            <a:spAutoFit/>
          </a:bodyPr>
          <a:lstStyle/>
          <a:p>
            <a:r>
              <a:rPr lang="de-DE" sz="1000" b="1">
                <a:solidFill>
                  <a:srgbClr val="187D9F"/>
                </a:solidFill>
                <a:latin typeface="Aptos" panose="020B0004020202020204" pitchFamily="34" charset="0"/>
              </a:rPr>
              <a:t>DATA QUALITY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FDD9184A-CEF3-B793-61E3-6D65F7BA32AF}"/>
              </a:ext>
            </a:extLst>
          </p:cNvPr>
          <p:cNvSpPr txBox="1"/>
          <p:nvPr/>
        </p:nvSpPr>
        <p:spPr>
          <a:xfrm>
            <a:off x="530352" y="658368"/>
            <a:ext cx="8458200" cy="898708"/>
          </a:xfrm>
          <a:prstGeom prst="rect">
            <a:avLst/>
          </a:prstGeom>
          <a:noFill/>
        </p:spPr>
        <p:txBody>
          <a:bodyPr vert="horz" lIns="36576" tIns="18288" rIns="36576" bIns="18288" rtlCol="0">
            <a:spAutoFit/>
          </a:bodyPr>
          <a:lstStyle/>
          <a:p>
            <a:r>
              <a:rPr lang="en-US" sz="2800" b="1">
                <a:solidFill>
                  <a:srgbClr val="1D2530"/>
                </a:solidFill>
                <a:latin typeface="Aptos" panose="020B0004020202020204" pitchFamily="34" charset="0"/>
              </a:rPr>
              <a:t>Google Trends is operationally fragile, so the prototype is transparent by design.</a:t>
            </a:r>
            <a:endParaRPr lang="de-DE" sz="2800" b="1">
              <a:solidFill>
                <a:srgbClr val="1D2530"/>
              </a:solidFill>
              <a:latin typeface="Aptos" panose="020B0004020202020204" pitchFamily="34" charset="0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C3B5E66E-3864-EF27-5446-BBB371E787D2}"/>
              </a:ext>
            </a:extLst>
          </p:cNvPr>
          <p:cNvSpPr txBox="1"/>
          <p:nvPr/>
        </p:nvSpPr>
        <p:spPr>
          <a:xfrm>
            <a:off x="566928" y="1627632"/>
            <a:ext cx="8458200" cy="221599"/>
          </a:xfrm>
          <a:prstGeom prst="rect">
            <a:avLst/>
          </a:prstGeom>
          <a:noFill/>
        </p:spPr>
        <p:txBody>
          <a:bodyPr vert="horz" lIns="36576" tIns="18288" rIns="36576" bIns="18288" rtlCol="0">
            <a:spAutoFit/>
          </a:bodyPr>
          <a:lstStyle/>
          <a:p>
            <a:r>
              <a:rPr lang="en-US" sz="1200">
                <a:solidFill>
                  <a:srgbClr val="9CA9B6"/>
                </a:solidFill>
                <a:latin typeface="Aptos" panose="020B0004020202020204" pitchFamily="34" charset="0"/>
              </a:rPr>
              <a:t>Live Trends requests currently reach Google but fail with HTTP 429 rate limiting.</a:t>
            </a:r>
            <a:endParaRPr lang="de-DE" sz="1200">
              <a:solidFill>
                <a:srgbClr val="9CA9B6"/>
              </a:solidFill>
              <a:latin typeface="Aptos" panose="020B0004020202020204" pitchFamily="34" charset="0"/>
            </a:endParaRPr>
          </a:p>
        </p:txBody>
      </p:sp>
      <p:sp>
        <p:nvSpPr>
          <p:cNvPr id="7" name="Rectangle: Rounded Corners 6">
            <a:extLst>
              <a:ext uri="{FF2B5EF4-FFF2-40B4-BE49-F238E27FC236}">
                <a16:creationId xmlns:a16="http://schemas.microsoft.com/office/drawing/2014/main" id="{71B16258-3BD2-E0DD-3AA8-EA3540B4FADB}"/>
              </a:ext>
            </a:extLst>
          </p:cNvPr>
          <p:cNvSpPr/>
          <p:nvPr/>
        </p:nvSpPr>
        <p:spPr>
          <a:xfrm>
            <a:off x="685800" y="2011680"/>
            <a:ext cx="2423160" cy="1143000"/>
          </a:xfrm>
          <a:prstGeom prst="roundRect">
            <a:avLst/>
          </a:prstGeom>
          <a:solidFill>
            <a:srgbClr val="FFFFFF"/>
          </a:solidFill>
          <a:ln>
            <a:solidFill>
              <a:srgbClr val="D0DAE4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44737AF6-1BBF-662D-CB9B-3F5C050B88C3}"/>
              </a:ext>
            </a:extLst>
          </p:cNvPr>
          <p:cNvSpPr/>
          <p:nvPr/>
        </p:nvSpPr>
        <p:spPr>
          <a:xfrm>
            <a:off x="685800" y="2011680"/>
            <a:ext cx="73152" cy="1143000"/>
          </a:xfrm>
          <a:prstGeom prst="rect">
            <a:avLst/>
          </a:prstGeom>
          <a:solidFill>
            <a:srgbClr val="5CA87A"/>
          </a:solidFill>
          <a:ln>
            <a:solidFill>
              <a:srgbClr val="5CA87A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9A248A85-98FF-7262-3FD2-61641D62E037}"/>
              </a:ext>
            </a:extLst>
          </p:cNvPr>
          <p:cNvSpPr txBox="1"/>
          <p:nvPr/>
        </p:nvSpPr>
        <p:spPr>
          <a:xfrm>
            <a:off x="886968" y="2176272"/>
            <a:ext cx="2103120" cy="390876"/>
          </a:xfrm>
          <a:prstGeom prst="rect">
            <a:avLst/>
          </a:prstGeom>
          <a:noFill/>
        </p:spPr>
        <p:txBody>
          <a:bodyPr vert="horz" lIns="36576" tIns="18288" rIns="36576" bIns="18288" rtlCol="0">
            <a:spAutoFit/>
          </a:bodyPr>
          <a:lstStyle/>
          <a:p>
            <a:r>
              <a:rPr lang="de-DE" sz="2300" b="1">
                <a:solidFill>
                  <a:srgbClr val="1D2530"/>
                </a:solidFill>
                <a:latin typeface="Aptos" panose="020B0004020202020204" pitchFamily="34" charset="0"/>
              </a:rPr>
              <a:t>0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331F5832-B402-7BD9-E2B2-B2C75922309C}"/>
              </a:ext>
            </a:extLst>
          </p:cNvPr>
          <p:cNvSpPr txBox="1"/>
          <p:nvPr/>
        </p:nvSpPr>
        <p:spPr>
          <a:xfrm>
            <a:off x="905256" y="2569464"/>
            <a:ext cx="2103120" cy="160044"/>
          </a:xfrm>
          <a:prstGeom prst="rect">
            <a:avLst/>
          </a:prstGeom>
          <a:noFill/>
        </p:spPr>
        <p:txBody>
          <a:bodyPr vert="horz" lIns="36576" tIns="18288" rIns="36576" bIns="18288" rtlCol="0">
            <a:spAutoFit/>
          </a:bodyPr>
          <a:lstStyle/>
          <a:p>
            <a:r>
              <a:rPr lang="de-DE" sz="800" b="1">
                <a:solidFill>
                  <a:srgbClr val="5CA87A"/>
                </a:solidFill>
                <a:latin typeface="Aptos" panose="020B0004020202020204" pitchFamily="34" charset="0"/>
              </a:rPr>
              <a:t>LIVE SECTORS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E9475107-38B8-6D08-8B32-665A14F87B45}"/>
              </a:ext>
            </a:extLst>
          </p:cNvPr>
          <p:cNvSpPr txBox="1"/>
          <p:nvPr/>
        </p:nvSpPr>
        <p:spPr>
          <a:xfrm>
            <a:off x="905256" y="2834640"/>
            <a:ext cx="2075688" cy="190821"/>
          </a:xfrm>
          <a:prstGeom prst="rect">
            <a:avLst/>
          </a:prstGeom>
          <a:noFill/>
        </p:spPr>
        <p:txBody>
          <a:bodyPr vert="horz" lIns="36576" tIns="18288" rIns="36576" bIns="18288" rtlCol="0">
            <a:spAutoFit/>
          </a:bodyPr>
          <a:lstStyle/>
          <a:p>
            <a:r>
              <a:rPr lang="de-DE" sz="1000">
                <a:solidFill>
                  <a:srgbClr val="9CA9B6"/>
                </a:solidFill>
                <a:latin typeface="Aptos" panose="020B0004020202020204" pitchFamily="34" charset="0"/>
              </a:rPr>
              <a:t>current API request</a:t>
            </a:r>
          </a:p>
        </p:txBody>
      </p:sp>
      <p:sp>
        <p:nvSpPr>
          <p:cNvPr id="12" name="Rectangle: Rounded Corners 11">
            <a:extLst>
              <a:ext uri="{FF2B5EF4-FFF2-40B4-BE49-F238E27FC236}">
                <a16:creationId xmlns:a16="http://schemas.microsoft.com/office/drawing/2014/main" id="{AE8C2DEE-CBDD-F2B1-7C71-E37A3C72A718}"/>
              </a:ext>
            </a:extLst>
          </p:cNvPr>
          <p:cNvSpPr/>
          <p:nvPr/>
        </p:nvSpPr>
        <p:spPr>
          <a:xfrm>
            <a:off x="3337560" y="2011680"/>
            <a:ext cx="2423160" cy="1143000"/>
          </a:xfrm>
          <a:prstGeom prst="roundRect">
            <a:avLst/>
          </a:prstGeom>
          <a:solidFill>
            <a:srgbClr val="FFFFFF"/>
          </a:solidFill>
          <a:ln>
            <a:solidFill>
              <a:srgbClr val="D0DAE4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97ED6D30-A18D-DBD2-A1B1-F6E1EDF689AB}"/>
              </a:ext>
            </a:extLst>
          </p:cNvPr>
          <p:cNvSpPr/>
          <p:nvPr/>
        </p:nvSpPr>
        <p:spPr>
          <a:xfrm>
            <a:off x="3337560" y="2011680"/>
            <a:ext cx="73152" cy="1143000"/>
          </a:xfrm>
          <a:prstGeom prst="rect">
            <a:avLst/>
          </a:prstGeom>
          <a:solidFill>
            <a:srgbClr val="187D9F"/>
          </a:solidFill>
          <a:ln>
            <a:solidFill>
              <a:srgbClr val="187D9F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04A94D9F-6053-0098-236E-746E95348E7F}"/>
              </a:ext>
            </a:extLst>
          </p:cNvPr>
          <p:cNvSpPr txBox="1"/>
          <p:nvPr/>
        </p:nvSpPr>
        <p:spPr>
          <a:xfrm>
            <a:off x="3538728" y="2176272"/>
            <a:ext cx="2103120" cy="390876"/>
          </a:xfrm>
          <a:prstGeom prst="rect">
            <a:avLst/>
          </a:prstGeom>
          <a:noFill/>
        </p:spPr>
        <p:txBody>
          <a:bodyPr vert="horz" lIns="36576" tIns="18288" rIns="36576" bIns="18288" rtlCol="0">
            <a:spAutoFit/>
          </a:bodyPr>
          <a:lstStyle/>
          <a:p>
            <a:r>
              <a:rPr lang="de-DE" sz="2300" b="1">
                <a:solidFill>
                  <a:srgbClr val="1D2530"/>
                </a:solidFill>
                <a:latin typeface="Aptos" panose="020B0004020202020204" pitchFamily="34" charset="0"/>
              </a:rPr>
              <a:t>0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E8AAB302-227A-93B5-E478-F3018F3C2228}"/>
              </a:ext>
            </a:extLst>
          </p:cNvPr>
          <p:cNvSpPr txBox="1"/>
          <p:nvPr/>
        </p:nvSpPr>
        <p:spPr>
          <a:xfrm>
            <a:off x="3557016" y="2569464"/>
            <a:ext cx="2103120" cy="160044"/>
          </a:xfrm>
          <a:prstGeom prst="rect">
            <a:avLst/>
          </a:prstGeom>
          <a:noFill/>
        </p:spPr>
        <p:txBody>
          <a:bodyPr vert="horz" lIns="36576" tIns="18288" rIns="36576" bIns="18288" rtlCol="0">
            <a:spAutoFit/>
          </a:bodyPr>
          <a:lstStyle/>
          <a:p>
            <a:r>
              <a:rPr lang="de-DE" sz="800" b="1">
                <a:solidFill>
                  <a:srgbClr val="187D9F"/>
                </a:solidFill>
                <a:latin typeface="Aptos" panose="020B0004020202020204" pitchFamily="34" charset="0"/>
              </a:rPr>
              <a:t>CACHED SECTORS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AFE5B9A6-3BB5-8DD0-EFE5-6861421CEC67}"/>
              </a:ext>
            </a:extLst>
          </p:cNvPr>
          <p:cNvSpPr txBox="1"/>
          <p:nvPr/>
        </p:nvSpPr>
        <p:spPr>
          <a:xfrm>
            <a:off x="3557016" y="2834640"/>
            <a:ext cx="2075688" cy="190821"/>
          </a:xfrm>
          <a:prstGeom prst="rect">
            <a:avLst/>
          </a:prstGeom>
          <a:noFill/>
        </p:spPr>
        <p:txBody>
          <a:bodyPr vert="horz" lIns="36576" tIns="18288" rIns="36576" bIns="18288" rtlCol="0">
            <a:spAutoFit/>
          </a:bodyPr>
          <a:lstStyle/>
          <a:p>
            <a:r>
              <a:rPr lang="de-DE" sz="1000">
                <a:solidFill>
                  <a:srgbClr val="9CA9B6"/>
                </a:solidFill>
                <a:latin typeface="Aptos" panose="020B0004020202020204" pitchFamily="34" charset="0"/>
              </a:rPr>
              <a:t>previously loaded Trends data</a:t>
            </a:r>
          </a:p>
        </p:txBody>
      </p:sp>
      <p:sp>
        <p:nvSpPr>
          <p:cNvPr id="17" name="Rectangle: Rounded Corners 16">
            <a:extLst>
              <a:ext uri="{FF2B5EF4-FFF2-40B4-BE49-F238E27FC236}">
                <a16:creationId xmlns:a16="http://schemas.microsoft.com/office/drawing/2014/main" id="{E8F67E84-2933-A24F-C58C-F68A6B173534}"/>
              </a:ext>
            </a:extLst>
          </p:cNvPr>
          <p:cNvSpPr/>
          <p:nvPr/>
        </p:nvSpPr>
        <p:spPr>
          <a:xfrm>
            <a:off x="5989320" y="2011680"/>
            <a:ext cx="2423160" cy="1143000"/>
          </a:xfrm>
          <a:prstGeom prst="roundRect">
            <a:avLst/>
          </a:prstGeom>
          <a:solidFill>
            <a:srgbClr val="FFFFFF"/>
          </a:solidFill>
          <a:ln>
            <a:solidFill>
              <a:srgbClr val="D0DAE4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4859EA55-305E-4D96-C6D6-933BC756CBF8}"/>
              </a:ext>
            </a:extLst>
          </p:cNvPr>
          <p:cNvSpPr/>
          <p:nvPr/>
        </p:nvSpPr>
        <p:spPr>
          <a:xfrm>
            <a:off x="5989320" y="2011680"/>
            <a:ext cx="73152" cy="1143000"/>
          </a:xfrm>
          <a:prstGeom prst="rect">
            <a:avLst/>
          </a:prstGeom>
          <a:solidFill>
            <a:srgbClr val="E8B64B"/>
          </a:solidFill>
          <a:ln>
            <a:solidFill>
              <a:srgbClr val="E8B64B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3C0CF5A1-2031-1AB9-849E-67D8A71EB07A}"/>
              </a:ext>
            </a:extLst>
          </p:cNvPr>
          <p:cNvSpPr txBox="1"/>
          <p:nvPr/>
        </p:nvSpPr>
        <p:spPr>
          <a:xfrm>
            <a:off x="6190488" y="2176272"/>
            <a:ext cx="2103120" cy="390876"/>
          </a:xfrm>
          <a:prstGeom prst="rect">
            <a:avLst/>
          </a:prstGeom>
          <a:noFill/>
        </p:spPr>
        <p:txBody>
          <a:bodyPr vert="horz" lIns="36576" tIns="18288" rIns="36576" bIns="18288" rtlCol="0">
            <a:spAutoFit/>
          </a:bodyPr>
          <a:lstStyle/>
          <a:p>
            <a:r>
              <a:rPr lang="de-DE" sz="2300" b="1">
                <a:solidFill>
                  <a:srgbClr val="1D2530"/>
                </a:solidFill>
                <a:latin typeface="Aptos" panose="020B0004020202020204" pitchFamily="34" charset="0"/>
              </a:rPr>
              <a:t>10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C3F92600-720F-67FB-7720-1E0DDFA73E4D}"/>
              </a:ext>
            </a:extLst>
          </p:cNvPr>
          <p:cNvSpPr txBox="1"/>
          <p:nvPr/>
        </p:nvSpPr>
        <p:spPr>
          <a:xfrm>
            <a:off x="6208776" y="2569464"/>
            <a:ext cx="2103120" cy="160044"/>
          </a:xfrm>
          <a:prstGeom prst="rect">
            <a:avLst/>
          </a:prstGeom>
          <a:noFill/>
        </p:spPr>
        <p:txBody>
          <a:bodyPr vert="horz" lIns="36576" tIns="18288" rIns="36576" bIns="18288" rtlCol="0">
            <a:spAutoFit/>
          </a:bodyPr>
          <a:lstStyle/>
          <a:p>
            <a:r>
              <a:rPr lang="de-DE" sz="800" b="1">
                <a:solidFill>
                  <a:srgbClr val="E8B64B"/>
                </a:solidFill>
                <a:latin typeface="Aptos" panose="020B0004020202020204" pitchFamily="34" charset="0"/>
              </a:rPr>
              <a:t>DEMO SECTORS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65EEA5C5-C335-009F-9841-8F6140AE7252}"/>
              </a:ext>
            </a:extLst>
          </p:cNvPr>
          <p:cNvSpPr txBox="1"/>
          <p:nvPr/>
        </p:nvSpPr>
        <p:spPr>
          <a:xfrm>
            <a:off x="6208776" y="2834640"/>
            <a:ext cx="2075688" cy="190821"/>
          </a:xfrm>
          <a:prstGeom prst="rect">
            <a:avLst/>
          </a:prstGeom>
          <a:noFill/>
        </p:spPr>
        <p:txBody>
          <a:bodyPr vert="horz" lIns="36576" tIns="18288" rIns="36576" bIns="18288" rtlCol="0">
            <a:spAutoFit/>
          </a:bodyPr>
          <a:lstStyle/>
          <a:p>
            <a:r>
              <a:rPr lang="de-DE" sz="1000">
                <a:solidFill>
                  <a:srgbClr val="9CA9B6"/>
                </a:solidFill>
                <a:latin typeface="Aptos" panose="020B0004020202020204" pitchFamily="34" charset="0"/>
              </a:rPr>
              <a:t>synthetic prototype trend data</a:t>
            </a:r>
          </a:p>
        </p:txBody>
      </p:sp>
      <p:sp>
        <p:nvSpPr>
          <p:cNvPr id="22" name="Rectangle: Rounded Corners 21">
            <a:extLst>
              <a:ext uri="{FF2B5EF4-FFF2-40B4-BE49-F238E27FC236}">
                <a16:creationId xmlns:a16="http://schemas.microsoft.com/office/drawing/2014/main" id="{086208CD-58E6-BF54-4E2F-723B8519C0DD}"/>
              </a:ext>
            </a:extLst>
          </p:cNvPr>
          <p:cNvSpPr/>
          <p:nvPr/>
        </p:nvSpPr>
        <p:spPr>
          <a:xfrm>
            <a:off x="8641080" y="2011680"/>
            <a:ext cx="2423160" cy="1143000"/>
          </a:xfrm>
          <a:prstGeom prst="roundRect">
            <a:avLst/>
          </a:prstGeom>
          <a:solidFill>
            <a:srgbClr val="FFFFFF"/>
          </a:solidFill>
          <a:ln>
            <a:solidFill>
              <a:srgbClr val="D0DAE4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E54330B3-E1F8-DA85-7FCE-F6A1E806E54B}"/>
              </a:ext>
            </a:extLst>
          </p:cNvPr>
          <p:cNvSpPr/>
          <p:nvPr/>
        </p:nvSpPr>
        <p:spPr>
          <a:xfrm>
            <a:off x="8641080" y="2011680"/>
            <a:ext cx="73152" cy="1143000"/>
          </a:xfrm>
          <a:prstGeom prst="rect">
            <a:avLst/>
          </a:prstGeom>
          <a:solidFill>
            <a:srgbClr val="E06B58"/>
          </a:solidFill>
          <a:ln>
            <a:solidFill>
              <a:srgbClr val="E06B5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6B662492-6B27-09E8-791A-6A0200310C6A}"/>
              </a:ext>
            </a:extLst>
          </p:cNvPr>
          <p:cNvSpPr txBox="1"/>
          <p:nvPr/>
        </p:nvSpPr>
        <p:spPr>
          <a:xfrm>
            <a:off x="8842248" y="2176272"/>
            <a:ext cx="2103120" cy="390876"/>
          </a:xfrm>
          <a:prstGeom prst="rect">
            <a:avLst/>
          </a:prstGeom>
          <a:noFill/>
        </p:spPr>
        <p:txBody>
          <a:bodyPr vert="horz" lIns="36576" tIns="18288" rIns="36576" bIns="18288" rtlCol="0">
            <a:spAutoFit/>
          </a:bodyPr>
          <a:lstStyle/>
          <a:p>
            <a:r>
              <a:rPr lang="de-DE" sz="2300" b="1">
                <a:solidFill>
                  <a:srgbClr val="1D2530"/>
                </a:solidFill>
                <a:latin typeface="Aptos" panose="020B0004020202020204" pitchFamily="34" charset="0"/>
              </a:rPr>
              <a:t>0</a:t>
            </a: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377CA566-71A7-49F6-B444-7C46E09EFA81}"/>
              </a:ext>
            </a:extLst>
          </p:cNvPr>
          <p:cNvSpPr txBox="1"/>
          <p:nvPr/>
        </p:nvSpPr>
        <p:spPr>
          <a:xfrm>
            <a:off x="8860536" y="2569464"/>
            <a:ext cx="2103120" cy="160044"/>
          </a:xfrm>
          <a:prstGeom prst="rect">
            <a:avLst/>
          </a:prstGeom>
          <a:noFill/>
        </p:spPr>
        <p:txBody>
          <a:bodyPr vert="horz" lIns="36576" tIns="18288" rIns="36576" bIns="18288" rtlCol="0">
            <a:spAutoFit/>
          </a:bodyPr>
          <a:lstStyle/>
          <a:p>
            <a:r>
              <a:rPr lang="de-DE" sz="800" b="1">
                <a:solidFill>
                  <a:srgbClr val="E06B58"/>
                </a:solidFill>
                <a:latin typeface="Aptos" panose="020B0004020202020204" pitchFamily="34" charset="0"/>
              </a:rPr>
              <a:t>FALLBACK SECTORS</a:t>
            </a: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FBB9C191-90B7-3979-6FEC-F0F5A197E86D}"/>
              </a:ext>
            </a:extLst>
          </p:cNvPr>
          <p:cNvSpPr txBox="1"/>
          <p:nvPr/>
        </p:nvSpPr>
        <p:spPr>
          <a:xfrm>
            <a:off x="8860536" y="2834640"/>
            <a:ext cx="2075688" cy="190821"/>
          </a:xfrm>
          <a:prstGeom prst="rect">
            <a:avLst/>
          </a:prstGeom>
          <a:noFill/>
        </p:spPr>
        <p:txBody>
          <a:bodyPr vert="horz" lIns="36576" tIns="18288" rIns="36576" bIns="18288" rtlCol="0">
            <a:spAutoFit/>
          </a:bodyPr>
          <a:lstStyle/>
          <a:p>
            <a:r>
              <a:rPr lang="de-DE" sz="1000">
                <a:solidFill>
                  <a:srgbClr val="9CA9B6"/>
                </a:solidFill>
                <a:latin typeface="Aptos" panose="020B0004020202020204" pitchFamily="34" charset="0"/>
              </a:rPr>
              <a:t>neutral placeholder</a:t>
            </a:r>
          </a:p>
        </p:txBody>
      </p:sp>
      <p:sp>
        <p:nvSpPr>
          <p:cNvPr id="27" name="Rectangle: Rounded Corners 26">
            <a:extLst>
              <a:ext uri="{FF2B5EF4-FFF2-40B4-BE49-F238E27FC236}">
                <a16:creationId xmlns:a16="http://schemas.microsoft.com/office/drawing/2014/main" id="{FABB2BCC-2874-B180-D1DE-C1DA2E33A4CD}"/>
              </a:ext>
            </a:extLst>
          </p:cNvPr>
          <p:cNvSpPr/>
          <p:nvPr/>
        </p:nvSpPr>
        <p:spPr>
          <a:xfrm>
            <a:off x="777240" y="3886200"/>
            <a:ext cx="10287000" cy="1325880"/>
          </a:xfrm>
          <a:prstGeom prst="roundRect">
            <a:avLst/>
          </a:prstGeom>
          <a:solidFill>
            <a:srgbClr val="FFFFFF"/>
          </a:solidFill>
          <a:ln>
            <a:solidFill>
              <a:srgbClr val="D0DAE4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FABC5574-2876-DD86-254A-35656BE0C615}"/>
              </a:ext>
            </a:extLst>
          </p:cNvPr>
          <p:cNvSpPr txBox="1"/>
          <p:nvPr/>
        </p:nvSpPr>
        <p:spPr>
          <a:xfrm>
            <a:off x="1024128" y="4087368"/>
            <a:ext cx="3291840" cy="252377"/>
          </a:xfrm>
          <a:prstGeom prst="rect">
            <a:avLst/>
          </a:prstGeom>
          <a:noFill/>
        </p:spPr>
        <p:txBody>
          <a:bodyPr vert="horz" lIns="36576" tIns="18288" rIns="36576" bIns="18288" rtlCol="0">
            <a:spAutoFit/>
          </a:bodyPr>
          <a:lstStyle/>
          <a:p>
            <a:r>
              <a:rPr lang="en-US" sz="1400" b="1">
                <a:solidFill>
                  <a:srgbClr val="1D2530"/>
                </a:solidFill>
                <a:latin typeface="Aptos" panose="020B0004020202020204" pitchFamily="34" charset="0"/>
              </a:rPr>
              <a:t>What this means for the presentation</a:t>
            </a:r>
            <a:endParaRPr lang="de-DE" sz="1400" b="1">
              <a:solidFill>
                <a:srgbClr val="1D2530"/>
              </a:solidFill>
              <a:latin typeface="Aptos" panose="020B0004020202020204" pitchFamily="34" charset="0"/>
            </a:endParaRP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D82AEB1E-0FD5-8034-E0D6-3013F48E7472}"/>
              </a:ext>
            </a:extLst>
          </p:cNvPr>
          <p:cNvSpPr txBox="1"/>
          <p:nvPr/>
        </p:nvSpPr>
        <p:spPr>
          <a:xfrm>
            <a:off x="1024128" y="4462272"/>
            <a:ext cx="9464040" cy="590931"/>
          </a:xfrm>
          <a:prstGeom prst="rect">
            <a:avLst/>
          </a:prstGeom>
          <a:noFill/>
        </p:spPr>
        <p:txBody>
          <a:bodyPr vert="horz" lIns="36576" tIns="18288" rIns="36576" bIns="18288" rtlCol="0">
            <a:spAutoFit/>
          </a:bodyPr>
          <a:lstStyle/>
          <a:p>
            <a:r>
              <a:rPr lang="de-DE" sz="1200">
                <a:solidFill>
                  <a:srgbClr val="9CA9B6"/>
                </a:solidFill>
                <a:latin typeface="Aptos" panose="020B0004020202020204" pitchFamily="34" charset="0"/>
              </a:rPr>
              <a:t>Market data and available ETF fundamentals are loaded live through yfinance. Google Trends live loading is implemented, but Google currently rate-limits pytrends requests. For a stable demo, the dashboard/report clearly flag synthetic trend data with trend_data_status=demo and trend_refresh_mode=demo_only.</a:t>
            </a:r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7FC9EC38-625E-1A33-6175-6A2A663D9198}"/>
              </a:ext>
            </a:extLst>
          </p:cNvPr>
          <p:cNvSpPr txBox="1"/>
          <p:nvPr/>
        </p:nvSpPr>
        <p:spPr>
          <a:xfrm>
            <a:off x="1024128" y="5285232"/>
            <a:ext cx="9418320" cy="221599"/>
          </a:xfrm>
          <a:prstGeom prst="rect">
            <a:avLst/>
          </a:prstGeom>
          <a:noFill/>
        </p:spPr>
        <p:txBody>
          <a:bodyPr vert="horz" lIns="36576" tIns="18288" rIns="36576" bIns="18288" rtlCol="0">
            <a:spAutoFit/>
          </a:bodyPr>
          <a:lstStyle/>
          <a:p>
            <a:r>
              <a:rPr lang="en-US" sz="1200" b="1">
                <a:solidFill>
                  <a:srgbClr val="187D9F"/>
                </a:solidFill>
                <a:latin typeface="Aptos" panose="020B0004020202020204" pitchFamily="34" charset="0"/>
              </a:rPr>
              <a:t>Fields added for transparency: trend_data_status · trend_refresh_mode · trend_cache_age_hours</a:t>
            </a:r>
            <a:endParaRPr lang="de-DE" sz="1200" b="1">
              <a:solidFill>
                <a:srgbClr val="187D9F"/>
              </a:solidFill>
              <a:latin typeface="Aptos" panose="020B0004020202020204" pitchFamily="34" charset="0"/>
            </a:endParaRPr>
          </a:p>
        </p:txBody>
      </p:sp>
      <p:cxnSp>
        <p:nvCxnSpPr>
          <p:cNvPr id="31" name="Straight Connector 30">
            <a:extLst>
              <a:ext uri="{FF2B5EF4-FFF2-40B4-BE49-F238E27FC236}">
                <a16:creationId xmlns:a16="http://schemas.microsoft.com/office/drawing/2014/main" id="{47F7492B-87F7-1864-41C3-EC360DE6A4A5}"/>
              </a:ext>
            </a:extLst>
          </p:cNvPr>
          <p:cNvCxnSpPr/>
          <p:nvPr/>
        </p:nvCxnSpPr>
        <p:spPr>
          <a:xfrm>
            <a:off x="530352" y="6446520"/>
            <a:ext cx="11128248" cy="0"/>
          </a:xfrm>
          <a:prstGeom prst="line">
            <a:avLst/>
          </a:prstGeom>
          <a:ln w="10160">
            <a:solidFill>
              <a:srgbClr val="C4CED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2" name="TextBox 31">
            <a:extLst>
              <a:ext uri="{FF2B5EF4-FFF2-40B4-BE49-F238E27FC236}">
                <a16:creationId xmlns:a16="http://schemas.microsoft.com/office/drawing/2014/main" id="{B407F97F-6CF1-F96A-7D3D-2950D255EE92}"/>
              </a:ext>
            </a:extLst>
          </p:cNvPr>
          <p:cNvSpPr txBox="1"/>
          <p:nvPr/>
        </p:nvSpPr>
        <p:spPr>
          <a:xfrm>
            <a:off x="530352" y="6492240"/>
            <a:ext cx="6766560" cy="160044"/>
          </a:xfrm>
          <a:prstGeom prst="rect">
            <a:avLst/>
          </a:prstGeom>
          <a:noFill/>
        </p:spPr>
        <p:txBody>
          <a:bodyPr vert="horz" lIns="36576" tIns="18288" rIns="36576" bIns="18288" rtlCol="0">
            <a:spAutoFit/>
          </a:bodyPr>
          <a:lstStyle/>
          <a:p>
            <a:r>
              <a:rPr lang="en-US" sz="800">
                <a:solidFill>
                  <a:srgbClr val="9CA9B6"/>
                </a:solidFill>
                <a:latin typeface="Aptos" panose="020B0004020202020204" pitchFamily="34" charset="0"/>
              </a:rPr>
              <a:t>Decision support only · No autonomous trading · Not financial advice</a:t>
            </a:r>
            <a:endParaRPr lang="de-DE" sz="800">
              <a:solidFill>
                <a:srgbClr val="9CA9B6"/>
              </a:solidFill>
              <a:latin typeface="Aptos" panose="020B0004020202020204" pitchFamily="34" charset="0"/>
            </a:endParaRPr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04089F85-30A1-30BB-5194-4AE167DB89E3}"/>
              </a:ext>
            </a:extLst>
          </p:cNvPr>
          <p:cNvSpPr txBox="1"/>
          <p:nvPr/>
        </p:nvSpPr>
        <p:spPr>
          <a:xfrm>
            <a:off x="11201400" y="6492240"/>
            <a:ext cx="457200" cy="160044"/>
          </a:xfrm>
          <a:prstGeom prst="rect">
            <a:avLst/>
          </a:prstGeom>
          <a:noFill/>
        </p:spPr>
        <p:txBody>
          <a:bodyPr vert="horz" lIns="36576" tIns="18288" rIns="36576" bIns="18288" rtlCol="0">
            <a:spAutoFit/>
          </a:bodyPr>
          <a:lstStyle/>
          <a:p>
            <a:r>
              <a:rPr lang="de-DE" sz="800">
                <a:solidFill>
                  <a:srgbClr val="9CA9B6"/>
                </a:solidFill>
                <a:latin typeface="Aptos" panose="020B0004020202020204" pitchFamily="34" charset="0"/>
              </a:rPr>
              <a:t>4/5</a:t>
            </a:r>
          </a:p>
        </p:txBody>
      </p:sp>
    </p:spTree>
    <p:extLst>
      <p:ext uri="{BB962C8B-B14F-4D97-AF65-F5344CB8AC3E}">
        <p14:creationId xmlns:p14="http://schemas.microsoft.com/office/powerpoint/2010/main" val="1799772790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F302AE4D-A249-7AD2-10B2-0F787C3EBDFC}"/>
              </a:ext>
            </a:extLst>
          </p:cNvPr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EAF2F7"/>
          </a:solidFill>
          <a:ln>
            <a:solidFill>
              <a:srgbClr val="EAF2F7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ED0B08ED-F52F-FDC9-8B80-397F6CEA76B3}"/>
              </a:ext>
            </a:extLst>
          </p:cNvPr>
          <p:cNvSpPr/>
          <p:nvPr/>
        </p:nvSpPr>
        <p:spPr>
          <a:xfrm>
            <a:off x="530352" y="411480"/>
            <a:ext cx="118872" cy="118872"/>
          </a:xfrm>
          <a:prstGeom prst="rect">
            <a:avLst/>
          </a:prstGeom>
          <a:solidFill>
            <a:srgbClr val="187D9F"/>
          </a:solidFill>
          <a:ln>
            <a:solidFill>
              <a:srgbClr val="187D9F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98D12D34-5244-F4B8-D417-F772D86785F1}"/>
              </a:ext>
            </a:extLst>
          </p:cNvPr>
          <p:cNvSpPr txBox="1"/>
          <p:nvPr/>
        </p:nvSpPr>
        <p:spPr>
          <a:xfrm>
            <a:off x="713232" y="338328"/>
            <a:ext cx="2926080" cy="190821"/>
          </a:xfrm>
          <a:prstGeom prst="rect">
            <a:avLst/>
          </a:prstGeom>
          <a:noFill/>
        </p:spPr>
        <p:txBody>
          <a:bodyPr vert="horz" lIns="36576" tIns="18288" rIns="36576" bIns="18288" rtlCol="0">
            <a:spAutoFit/>
          </a:bodyPr>
          <a:lstStyle/>
          <a:p>
            <a:r>
              <a:rPr lang="de-DE" sz="1000" b="1">
                <a:solidFill>
                  <a:srgbClr val="187D9F"/>
                </a:solidFill>
                <a:latin typeface="Aptos" panose="020B0004020202020204" pitchFamily="34" charset="0"/>
              </a:rPr>
              <a:t>READINESS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C37A6FB7-013B-5312-5993-B00135166237}"/>
              </a:ext>
            </a:extLst>
          </p:cNvPr>
          <p:cNvSpPr txBox="1"/>
          <p:nvPr/>
        </p:nvSpPr>
        <p:spPr>
          <a:xfrm>
            <a:off x="530352" y="658368"/>
            <a:ext cx="8458200" cy="898708"/>
          </a:xfrm>
          <a:prstGeom prst="rect">
            <a:avLst/>
          </a:prstGeom>
          <a:noFill/>
        </p:spPr>
        <p:txBody>
          <a:bodyPr vert="horz" lIns="36576" tIns="18288" rIns="36576" bIns="18288" rtlCol="0">
            <a:spAutoFit/>
          </a:bodyPr>
          <a:lstStyle/>
          <a:p>
            <a:r>
              <a:rPr lang="en-US" sz="2800" b="1">
                <a:solidFill>
                  <a:srgbClr val="1D2530"/>
                </a:solidFill>
                <a:latin typeface="Aptos" panose="020B0004020202020204" pitchFamily="34" charset="0"/>
              </a:rPr>
              <a:t>The prototype is presentation-ready as a research tool, with clear next steps.</a:t>
            </a:r>
            <a:endParaRPr lang="de-DE" sz="2800" b="1">
              <a:solidFill>
                <a:srgbClr val="1D2530"/>
              </a:solidFill>
              <a:latin typeface="Aptos" panose="020B0004020202020204" pitchFamily="34" charset="0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B99860FE-D74A-7E7C-A3EC-5F04E8165C2C}"/>
              </a:ext>
            </a:extLst>
          </p:cNvPr>
          <p:cNvSpPr txBox="1"/>
          <p:nvPr/>
        </p:nvSpPr>
        <p:spPr>
          <a:xfrm>
            <a:off x="566928" y="1627632"/>
            <a:ext cx="8458200" cy="221599"/>
          </a:xfrm>
          <a:prstGeom prst="rect">
            <a:avLst/>
          </a:prstGeom>
          <a:noFill/>
        </p:spPr>
        <p:txBody>
          <a:bodyPr vert="horz" lIns="36576" tIns="18288" rIns="36576" bIns="18288" rtlCol="0">
            <a:spAutoFit/>
          </a:bodyPr>
          <a:lstStyle/>
          <a:p>
            <a:r>
              <a:rPr lang="en-US" sz="1200">
                <a:solidFill>
                  <a:srgbClr val="9CA9B6"/>
                </a:solidFill>
                <a:latin typeface="Aptos" panose="020B0004020202020204" pitchFamily="34" charset="0"/>
              </a:rPr>
              <a:t>Final validation confirms the pipeline, report, dashboard, and tests are aligned.</a:t>
            </a:r>
            <a:endParaRPr lang="de-DE" sz="1200">
              <a:solidFill>
                <a:srgbClr val="9CA9B6"/>
              </a:solidFill>
              <a:latin typeface="Aptos" panose="020B0004020202020204" pitchFamily="34" charset="0"/>
            </a:endParaRPr>
          </a:p>
        </p:txBody>
      </p:sp>
      <p:sp>
        <p:nvSpPr>
          <p:cNvPr id="7" name="Rectangle: Rounded Corners 6">
            <a:extLst>
              <a:ext uri="{FF2B5EF4-FFF2-40B4-BE49-F238E27FC236}">
                <a16:creationId xmlns:a16="http://schemas.microsoft.com/office/drawing/2014/main" id="{DE30B4E7-5EAB-6DE9-91AD-42164954DBEB}"/>
              </a:ext>
            </a:extLst>
          </p:cNvPr>
          <p:cNvSpPr/>
          <p:nvPr/>
        </p:nvSpPr>
        <p:spPr>
          <a:xfrm>
            <a:off x="685800" y="1874520"/>
            <a:ext cx="2743200" cy="1234440"/>
          </a:xfrm>
          <a:prstGeom prst="roundRect">
            <a:avLst/>
          </a:prstGeom>
          <a:solidFill>
            <a:srgbClr val="FFFFFF"/>
          </a:solidFill>
          <a:ln>
            <a:solidFill>
              <a:srgbClr val="D0DAE4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34049B99-ED8E-1575-6D6F-C6C76D25FB2B}"/>
              </a:ext>
            </a:extLst>
          </p:cNvPr>
          <p:cNvSpPr/>
          <p:nvPr/>
        </p:nvSpPr>
        <p:spPr>
          <a:xfrm>
            <a:off x="685800" y="1874520"/>
            <a:ext cx="73152" cy="1234440"/>
          </a:xfrm>
          <a:prstGeom prst="rect">
            <a:avLst/>
          </a:prstGeom>
          <a:solidFill>
            <a:srgbClr val="5CA87A"/>
          </a:solidFill>
          <a:ln>
            <a:solidFill>
              <a:srgbClr val="5CA87A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9ED2537D-5B2B-D317-E074-0524448470BE}"/>
              </a:ext>
            </a:extLst>
          </p:cNvPr>
          <p:cNvSpPr txBox="1"/>
          <p:nvPr/>
        </p:nvSpPr>
        <p:spPr>
          <a:xfrm>
            <a:off x="886968" y="2039112"/>
            <a:ext cx="2423160" cy="390876"/>
          </a:xfrm>
          <a:prstGeom prst="rect">
            <a:avLst/>
          </a:prstGeom>
          <a:noFill/>
        </p:spPr>
        <p:txBody>
          <a:bodyPr vert="horz" lIns="36576" tIns="18288" rIns="36576" bIns="18288" rtlCol="0">
            <a:spAutoFit/>
          </a:bodyPr>
          <a:lstStyle/>
          <a:p>
            <a:r>
              <a:rPr lang="de-DE" sz="2300" b="1">
                <a:solidFill>
                  <a:srgbClr val="1D2530"/>
                </a:solidFill>
                <a:latin typeface="Aptos" panose="020B0004020202020204" pitchFamily="34" charset="0"/>
              </a:rPr>
              <a:t>Pass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761494D1-1F47-300C-971B-C0E4EBCE8F46}"/>
              </a:ext>
            </a:extLst>
          </p:cNvPr>
          <p:cNvSpPr txBox="1"/>
          <p:nvPr/>
        </p:nvSpPr>
        <p:spPr>
          <a:xfrm>
            <a:off x="905256" y="2432304"/>
            <a:ext cx="2423160" cy="160044"/>
          </a:xfrm>
          <a:prstGeom prst="rect">
            <a:avLst/>
          </a:prstGeom>
          <a:noFill/>
        </p:spPr>
        <p:txBody>
          <a:bodyPr vert="horz" lIns="36576" tIns="18288" rIns="36576" bIns="18288" rtlCol="0">
            <a:spAutoFit/>
          </a:bodyPr>
          <a:lstStyle/>
          <a:p>
            <a:r>
              <a:rPr lang="de-DE" sz="800" b="1">
                <a:solidFill>
                  <a:srgbClr val="5CA87A"/>
                </a:solidFill>
                <a:latin typeface="Aptos" panose="020B0004020202020204" pitchFamily="34" charset="0"/>
              </a:rPr>
              <a:t>PIPELINE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95D5C86F-9698-AD7E-BAA5-E8123684150A}"/>
              </a:ext>
            </a:extLst>
          </p:cNvPr>
          <p:cNvSpPr txBox="1"/>
          <p:nvPr/>
        </p:nvSpPr>
        <p:spPr>
          <a:xfrm>
            <a:off x="905256" y="2697480"/>
            <a:ext cx="2395728" cy="344710"/>
          </a:xfrm>
          <a:prstGeom prst="rect">
            <a:avLst/>
          </a:prstGeom>
          <a:noFill/>
        </p:spPr>
        <p:txBody>
          <a:bodyPr vert="horz" lIns="36576" tIns="18288" rIns="36576" bIns="18288" rtlCol="0">
            <a:spAutoFit/>
          </a:bodyPr>
          <a:lstStyle/>
          <a:p>
            <a:r>
              <a:rPr lang="de-DE" sz="1000">
                <a:solidFill>
                  <a:srgbClr val="9CA9B6"/>
                </a:solidFill>
                <a:latin typeface="Aptos" panose="020B0004020202020204" pitchFamily="34" charset="0"/>
              </a:rPr>
              <a:t>python src/pipeline.py --trend-mode demo_only</a:t>
            </a:r>
          </a:p>
        </p:txBody>
      </p:sp>
      <p:sp>
        <p:nvSpPr>
          <p:cNvPr id="12" name="Rectangle: Rounded Corners 11">
            <a:extLst>
              <a:ext uri="{FF2B5EF4-FFF2-40B4-BE49-F238E27FC236}">
                <a16:creationId xmlns:a16="http://schemas.microsoft.com/office/drawing/2014/main" id="{F121EEF3-3551-5CC9-413C-2079029E9C81}"/>
              </a:ext>
            </a:extLst>
          </p:cNvPr>
          <p:cNvSpPr/>
          <p:nvPr/>
        </p:nvSpPr>
        <p:spPr>
          <a:xfrm>
            <a:off x="3703320" y="1874520"/>
            <a:ext cx="2743200" cy="1234440"/>
          </a:xfrm>
          <a:prstGeom prst="roundRect">
            <a:avLst/>
          </a:prstGeom>
          <a:solidFill>
            <a:srgbClr val="FFFFFF"/>
          </a:solidFill>
          <a:ln>
            <a:solidFill>
              <a:srgbClr val="D0DAE4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766EA9E7-9634-9F64-AA87-94CB51A2B0E9}"/>
              </a:ext>
            </a:extLst>
          </p:cNvPr>
          <p:cNvSpPr/>
          <p:nvPr/>
        </p:nvSpPr>
        <p:spPr>
          <a:xfrm>
            <a:off x="3703320" y="1874520"/>
            <a:ext cx="73152" cy="1234440"/>
          </a:xfrm>
          <a:prstGeom prst="rect">
            <a:avLst/>
          </a:prstGeom>
          <a:solidFill>
            <a:srgbClr val="187D9F"/>
          </a:solidFill>
          <a:ln>
            <a:solidFill>
              <a:srgbClr val="187D9F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50695595-F5CD-2280-2323-9AA30FDCD2CA}"/>
              </a:ext>
            </a:extLst>
          </p:cNvPr>
          <p:cNvSpPr txBox="1"/>
          <p:nvPr/>
        </p:nvSpPr>
        <p:spPr>
          <a:xfrm>
            <a:off x="3904488" y="2039112"/>
            <a:ext cx="2423160" cy="390876"/>
          </a:xfrm>
          <a:prstGeom prst="rect">
            <a:avLst/>
          </a:prstGeom>
          <a:noFill/>
        </p:spPr>
        <p:txBody>
          <a:bodyPr vert="horz" lIns="36576" tIns="18288" rIns="36576" bIns="18288" rtlCol="0">
            <a:spAutoFit/>
          </a:bodyPr>
          <a:lstStyle/>
          <a:p>
            <a:r>
              <a:rPr lang="de-DE" sz="2300" b="1">
                <a:solidFill>
                  <a:srgbClr val="1D2530"/>
                </a:solidFill>
                <a:latin typeface="Aptos" panose="020B0004020202020204" pitchFamily="34" charset="0"/>
              </a:rPr>
              <a:t>Pass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B48916BD-4846-64FE-4C83-8CD35A848BBF}"/>
              </a:ext>
            </a:extLst>
          </p:cNvPr>
          <p:cNvSpPr txBox="1"/>
          <p:nvPr/>
        </p:nvSpPr>
        <p:spPr>
          <a:xfrm>
            <a:off x="3922776" y="2432304"/>
            <a:ext cx="2423160" cy="160044"/>
          </a:xfrm>
          <a:prstGeom prst="rect">
            <a:avLst/>
          </a:prstGeom>
          <a:noFill/>
        </p:spPr>
        <p:txBody>
          <a:bodyPr vert="horz" lIns="36576" tIns="18288" rIns="36576" bIns="18288" rtlCol="0">
            <a:spAutoFit/>
          </a:bodyPr>
          <a:lstStyle/>
          <a:p>
            <a:r>
              <a:rPr lang="de-DE" sz="800" b="1">
                <a:solidFill>
                  <a:srgbClr val="187D9F"/>
                </a:solidFill>
                <a:latin typeface="Aptos" panose="020B0004020202020204" pitchFamily="34" charset="0"/>
              </a:rPr>
              <a:t>VERIFICATION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55F1527B-221D-67F8-0CDE-30646B39EB3B}"/>
              </a:ext>
            </a:extLst>
          </p:cNvPr>
          <p:cNvSpPr txBox="1"/>
          <p:nvPr/>
        </p:nvSpPr>
        <p:spPr>
          <a:xfrm>
            <a:off x="3922776" y="2697480"/>
            <a:ext cx="2395728" cy="190821"/>
          </a:xfrm>
          <a:prstGeom prst="rect">
            <a:avLst/>
          </a:prstGeom>
          <a:noFill/>
        </p:spPr>
        <p:txBody>
          <a:bodyPr vert="horz" lIns="36576" tIns="18288" rIns="36576" bIns="18288" rtlCol="0">
            <a:spAutoFit/>
          </a:bodyPr>
          <a:lstStyle/>
          <a:p>
            <a:r>
              <a:rPr lang="de-DE" sz="1000">
                <a:solidFill>
                  <a:srgbClr val="9CA9B6"/>
                </a:solidFill>
                <a:latin typeface="Aptos" panose="020B0004020202020204" pitchFamily="34" charset="0"/>
              </a:rPr>
              <a:t>python src/verify_outputs.py</a:t>
            </a:r>
          </a:p>
        </p:txBody>
      </p:sp>
      <p:sp>
        <p:nvSpPr>
          <p:cNvPr id="17" name="Rectangle: Rounded Corners 16">
            <a:extLst>
              <a:ext uri="{FF2B5EF4-FFF2-40B4-BE49-F238E27FC236}">
                <a16:creationId xmlns:a16="http://schemas.microsoft.com/office/drawing/2014/main" id="{5E41ADE4-3D53-9075-ABBD-5AC861D885AE}"/>
              </a:ext>
            </a:extLst>
          </p:cNvPr>
          <p:cNvSpPr/>
          <p:nvPr/>
        </p:nvSpPr>
        <p:spPr>
          <a:xfrm>
            <a:off x="6720840" y="1874520"/>
            <a:ext cx="2743200" cy="1234440"/>
          </a:xfrm>
          <a:prstGeom prst="roundRect">
            <a:avLst/>
          </a:prstGeom>
          <a:solidFill>
            <a:srgbClr val="FFFFFF"/>
          </a:solidFill>
          <a:ln>
            <a:solidFill>
              <a:srgbClr val="D0DAE4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EBCF788F-606C-0B76-E7B7-92BFBA67A488}"/>
              </a:ext>
            </a:extLst>
          </p:cNvPr>
          <p:cNvSpPr/>
          <p:nvPr/>
        </p:nvSpPr>
        <p:spPr>
          <a:xfrm>
            <a:off x="6720840" y="1874520"/>
            <a:ext cx="73152" cy="1234440"/>
          </a:xfrm>
          <a:prstGeom prst="rect">
            <a:avLst/>
          </a:prstGeom>
          <a:solidFill>
            <a:srgbClr val="E8B64B"/>
          </a:solidFill>
          <a:ln>
            <a:solidFill>
              <a:srgbClr val="E8B64B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49879B64-A64C-6149-0B3B-3DE00DE30715}"/>
              </a:ext>
            </a:extLst>
          </p:cNvPr>
          <p:cNvSpPr txBox="1"/>
          <p:nvPr/>
        </p:nvSpPr>
        <p:spPr>
          <a:xfrm>
            <a:off x="6922008" y="2039112"/>
            <a:ext cx="2423160" cy="390876"/>
          </a:xfrm>
          <a:prstGeom prst="rect">
            <a:avLst/>
          </a:prstGeom>
          <a:noFill/>
        </p:spPr>
        <p:txBody>
          <a:bodyPr vert="horz" lIns="36576" tIns="18288" rIns="36576" bIns="18288" rtlCol="0">
            <a:spAutoFit/>
          </a:bodyPr>
          <a:lstStyle/>
          <a:p>
            <a:r>
              <a:rPr lang="de-DE" sz="2300" b="1">
                <a:solidFill>
                  <a:srgbClr val="1D2530"/>
                </a:solidFill>
                <a:latin typeface="Aptos" panose="020B0004020202020204" pitchFamily="34" charset="0"/>
              </a:rPr>
              <a:t>18 passed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1D94EB70-A913-5E49-6A58-51718EF40BFA}"/>
              </a:ext>
            </a:extLst>
          </p:cNvPr>
          <p:cNvSpPr txBox="1"/>
          <p:nvPr/>
        </p:nvSpPr>
        <p:spPr>
          <a:xfrm>
            <a:off x="6940296" y="2432304"/>
            <a:ext cx="2423160" cy="160044"/>
          </a:xfrm>
          <a:prstGeom prst="rect">
            <a:avLst/>
          </a:prstGeom>
          <a:noFill/>
        </p:spPr>
        <p:txBody>
          <a:bodyPr vert="horz" lIns="36576" tIns="18288" rIns="36576" bIns="18288" rtlCol="0">
            <a:spAutoFit/>
          </a:bodyPr>
          <a:lstStyle/>
          <a:p>
            <a:r>
              <a:rPr lang="de-DE" sz="800" b="1">
                <a:solidFill>
                  <a:srgbClr val="E8B64B"/>
                </a:solidFill>
                <a:latin typeface="Aptos" panose="020B0004020202020204" pitchFamily="34" charset="0"/>
              </a:rPr>
              <a:t>TESTS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9636AD62-2EA5-8033-1FF5-61310BFCAC35}"/>
              </a:ext>
            </a:extLst>
          </p:cNvPr>
          <p:cNvSpPr txBox="1"/>
          <p:nvPr/>
        </p:nvSpPr>
        <p:spPr>
          <a:xfrm>
            <a:off x="6940296" y="2697480"/>
            <a:ext cx="2395728" cy="190821"/>
          </a:xfrm>
          <a:prstGeom prst="rect">
            <a:avLst/>
          </a:prstGeom>
          <a:noFill/>
        </p:spPr>
        <p:txBody>
          <a:bodyPr vert="horz" lIns="36576" tIns="18288" rIns="36576" bIns="18288" rtlCol="0">
            <a:spAutoFit/>
          </a:bodyPr>
          <a:lstStyle/>
          <a:p>
            <a:r>
              <a:rPr lang="de-DE" sz="1000">
                <a:solidFill>
                  <a:srgbClr val="9CA9B6"/>
                </a:solidFill>
                <a:latin typeface="Aptos" panose="020B0004020202020204" pitchFamily="34" charset="0"/>
              </a:rPr>
              <a:t>python -m pytest</a:t>
            </a:r>
          </a:p>
        </p:txBody>
      </p:sp>
      <p:sp>
        <p:nvSpPr>
          <p:cNvPr id="22" name="Rectangle: Rounded Corners 21">
            <a:extLst>
              <a:ext uri="{FF2B5EF4-FFF2-40B4-BE49-F238E27FC236}">
                <a16:creationId xmlns:a16="http://schemas.microsoft.com/office/drawing/2014/main" id="{7AA9EC04-3C21-98D4-A2F1-AFF63CA70958}"/>
              </a:ext>
            </a:extLst>
          </p:cNvPr>
          <p:cNvSpPr/>
          <p:nvPr/>
        </p:nvSpPr>
        <p:spPr>
          <a:xfrm>
            <a:off x="713232" y="3703320"/>
            <a:ext cx="5074920" cy="1417320"/>
          </a:xfrm>
          <a:prstGeom prst="roundRect">
            <a:avLst/>
          </a:prstGeom>
          <a:solidFill>
            <a:srgbClr val="FFFFFF"/>
          </a:solidFill>
          <a:ln>
            <a:solidFill>
              <a:srgbClr val="D0DAE4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41D29FC3-1C6E-4CA2-A7E4-B06726ACEE7F}"/>
              </a:ext>
            </a:extLst>
          </p:cNvPr>
          <p:cNvSpPr txBox="1"/>
          <p:nvPr/>
        </p:nvSpPr>
        <p:spPr>
          <a:xfrm>
            <a:off x="960120" y="3913632"/>
            <a:ext cx="2011680" cy="252377"/>
          </a:xfrm>
          <a:prstGeom prst="rect">
            <a:avLst/>
          </a:prstGeom>
          <a:noFill/>
        </p:spPr>
        <p:txBody>
          <a:bodyPr vert="horz" lIns="36576" tIns="18288" rIns="36576" bIns="18288" rtlCol="0">
            <a:spAutoFit/>
          </a:bodyPr>
          <a:lstStyle/>
          <a:p>
            <a:r>
              <a:rPr lang="de-DE" sz="1400" b="1">
                <a:solidFill>
                  <a:srgbClr val="1D2530"/>
                </a:solidFill>
                <a:latin typeface="Aptos" panose="020B0004020202020204" pitchFamily="34" charset="0"/>
              </a:rPr>
              <a:t>Current proof points</a:t>
            </a: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3550D1C1-0FFD-E57B-03E1-C371591B7E29}"/>
              </a:ext>
            </a:extLst>
          </p:cNvPr>
          <p:cNvSpPr txBox="1"/>
          <p:nvPr/>
        </p:nvSpPr>
        <p:spPr>
          <a:xfrm>
            <a:off x="960120" y="4297680"/>
            <a:ext cx="4434840" cy="406265"/>
          </a:xfrm>
          <a:prstGeom prst="rect">
            <a:avLst/>
          </a:prstGeom>
          <a:noFill/>
        </p:spPr>
        <p:txBody>
          <a:bodyPr vert="horz" lIns="36576" tIns="18288" rIns="36576" bIns="18288" rtlCol="0">
            <a:spAutoFit/>
          </a:bodyPr>
          <a:lstStyle/>
          <a:p>
            <a:r>
              <a:rPr lang="en-US" sz="1200">
                <a:solidFill>
                  <a:srgbClr val="9CA9B6"/>
                </a:solidFill>
                <a:latin typeface="Aptos" panose="020B0004020202020204" pitchFamily="34" charset="0"/>
              </a:rPr>
              <a:t>Market-only backtest: 95 rebalances, Sharpe 0.80, max drawdown -16.2%.</a:t>
            </a:r>
            <a:endParaRPr lang="de-DE" sz="1200">
              <a:solidFill>
                <a:srgbClr val="9CA9B6"/>
              </a:solidFill>
              <a:latin typeface="Aptos" panose="020B0004020202020204" pitchFamily="34" charset="0"/>
            </a:endParaRP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5BF6BC37-C705-5E5E-7A10-6CA27197E822}"/>
              </a:ext>
            </a:extLst>
          </p:cNvPr>
          <p:cNvSpPr txBox="1"/>
          <p:nvPr/>
        </p:nvSpPr>
        <p:spPr>
          <a:xfrm>
            <a:off x="960120" y="4791456"/>
            <a:ext cx="4389120" cy="206210"/>
          </a:xfrm>
          <a:prstGeom prst="rect">
            <a:avLst/>
          </a:prstGeom>
          <a:noFill/>
        </p:spPr>
        <p:txBody>
          <a:bodyPr vert="horz" lIns="36576" tIns="18288" rIns="36576" bIns="18288" rtlCol="0">
            <a:spAutoFit/>
          </a:bodyPr>
          <a:lstStyle/>
          <a:p>
            <a:r>
              <a:rPr lang="en-US" sz="1100" b="1">
                <a:solidFill>
                  <a:srgbClr val="187D9F"/>
                </a:solidFill>
                <a:latin typeface="Aptos" panose="020B0004020202020204" pitchFamily="34" charset="0"/>
              </a:rPr>
              <a:t>Dashboard: python -m streamlit run app/app.py</a:t>
            </a:r>
            <a:endParaRPr lang="de-DE" sz="1100" b="1">
              <a:solidFill>
                <a:srgbClr val="187D9F"/>
              </a:solidFill>
              <a:latin typeface="Aptos" panose="020B0004020202020204" pitchFamily="34" charset="0"/>
            </a:endParaRPr>
          </a:p>
        </p:txBody>
      </p:sp>
      <p:sp>
        <p:nvSpPr>
          <p:cNvPr id="26" name="Rectangle: Rounded Corners 25">
            <a:extLst>
              <a:ext uri="{FF2B5EF4-FFF2-40B4-BE49-F238E27FC236}">
                <a16:creationId xmlns:a16="http://schemas.microsoft.com/office/drawing/2014/main" id="{C24D0168-82D6-5A8D-7750-56646607A514}"/>
              </a:ext>
            </a:extLst>
          </p:cNvPr>
          <p:cNvSpPr/>
          <p:nvPr/>
        </p:nvSpPr>
        <p:spPr>
          <a:xfrm>
            <a:off x="6080760" y="3703320"/>
            <a:ext cx="5074920" cy="1965960"/>
          </a:xfrm>
          <a:prstGeom prst="roundRect">
            <a:avLst/>
          </a:prstGeom>
          <a:solidFill>
            <a:srgbClr val="FFFFFF"/>
          </a:solidFill>
          <a:ln>
            <a:solidFill>
              <a:srgbClr val="D0DAE4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82089035-698B-CA08-59C9-7C7A81142287}"/>
              </a:ext>
            </a:extLst>
          </p:cNvPr>
          <p:cNvSpPr txBox="1"/>
          <p:nvPr/>
        </p:nvSpPr>
        <p:spPr>
          <a:xfrm>
            <a:off x="6327648" y="3913632"/>
            <a:ext cx="2560320" cy="252377"/>
          </a:xfrm>
          <a:prstGeom prst="rect">
            <a:avLst/>
          </a:prstGeom>
          <a:noFill/>
        </p:spPr>
        <p:txBody>
          <a:bodyPr vert="horz" lIns="36576" tIns="18288" rIns="36576" bIns="18288" rtlCol="0">
            <a:spAutoFit/>
          </a:bodyPr>
          <a:lstStyle/>
          <a:p>
            <a:r>
              <a:rPr lang="de-DE" sz="1400" b="1">
                <a:solidFill>
                  <a:srgbClr val="1D2530"/>
                </a:solidFill>
                <a:latin typeface="Aptos" panose="020B0004020202020204" pitchFamily="34" charset="0"/>
              </a:rPr>
              <a:t>Recommended next steps</a:t>
            </a:r>
          </a:p>
        </p:txBody>
      </p:sp>
      <p:sp>
        <p:nvSpPr>
          <p:cNvPr id="28" name="Rectangle 27">
            <a:extLst>
              <a:ext uri="{FF2B5EF4-FFF2-40B4-BE49-F238E27FC236}">
                <a16:creationId xmlns:a16="http://schemas.microsoft.com/office/drawing/2014/main" id="{D37B58E5-B7F6-87E0-C800-65167701918B}"/>
              </a:ext>
            </a:extLst>
          </p:cNvPr>
          <p:cNvSpPr/>
          <p:nvPr/>
        </p:nvSpPr>
        <p:spPr>
          <a:xfrm>
            <a:off x="6355080" y="4343400"/>
            <a:ext cx="64008" cy="64008"/>
          </a:xfrm>
          <a:prstGeom prst="rect">
            <a:avLst/>
          </a:prstGeom>
          <a:solidFill>
            <a:srgbClr val="187D9F"/>
          </a:solidFill>
          <a:ln>
            <a:solidFill>
              <a:srgbClr val="187D9F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199BD495-6173-CD5A-E984-E7176FE764E3}"/>
              </a:ext>
            </a:extLst>
          </p:cNvPr>
          <p:cNvSpPr txBox="1"/>
          <p:nvPr/>
        </p:nvSpPr>
        <p:spPr>
          <a:xfrm>
            <a:off x="6519672" y="4270248"/>
            <a:ext cx="4133088" cy="236988"/>
          </a:xfrm>
          <a:prstGeom prst="rect">
            <a:avLst/>
          </a:prstGeom>
          <a:noFill/>
        </p:spPr>
        <p:txBody>
          <a:bodyPr vert="horz" lIns="36576" tIns="18288" rIns="36576" bIns="18288" rtlCol="0">
            <a:spAutoFit/>
          </a:bodyPr>
          <a:lstStyle/>
          <a:p>
            <a:r>
              <a:rPr lang="de-DE" sz="1300">
                <a:solidFill>
                  <a:srgbClr val="1D2530"/>
                </a:solidFill>
                <a:latin typeface="Aptos" panose="020B0004020202020204" pitchFamily="34" charset="0"/>
              </a:rPr>
              <a:t>Run demo mode for presentation stability.</a:t>
            </a:r>
          </a:p>
        </p:txBody>
      </p:sp>
      <p:sp>
        <p:nvSpPr>
          <p:cNvPr id="30" name="Rectangle 29">
            <a:extLst>
              <a:ext uri="{FF2B5EF4-FFF2-40B4-BE49-F238E27FC236}">
                <a16:creationId xmlns:a16="http://schemas.microsoft.com/office/drawing/2014/main" id="{2B776D54-71C3-A083-9830-E48335F91EEC}"/>
              </a:ext>
            </a:extLst>
          </p:cNvPr>
          <p:cNvSpPr/>
          <p:nvPr/>
        </p:nvSpPr>
        <p:spPr>
          <a:xfrm>
            <a:off x="6355080" y="4718304"/>
            <a:ext cx="64008" cy="64008"/>
          </a:xfrm>
          <a:prstGeom prst="rect">
            <a:avLst/>
          </a:prstGeom>
          <a:solidFill>
            <a:srgbClr val="187D9F"/>
          </a:solidFill>
          <a:ln>
            <a:solidFill>
              <a:srgbClr val="187D9F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79BD5992-D7C8-0418-840E-28F9E2C4E19A}"/>
              </a:ext>
            </a:extLst>
          </p:cNvPr>
          <p:cNvSpPr txBox="1"/>
          <p:nvPr/>
        </p:nvSpPr>
        <p:spPr>
          <a:xfrm>
            <a:off x="6519672" y="4645152"/>
            <a:ext cx="4133088" cy="236988"/>
          </a:xfrm>
          <a:prstGeom prst="rect">
            <a:avLst/>
          </a:prstGeom>
          <a:noFill/>
        </p:spPr>
        <p:txBody>
          <a:bodyPr vert="horz" lIns="36576" tIns="18288" rIns="36576" bIns="18288" rtlCol="0">
            <a:spAutoFit/>
          </a:bodyPr>
          <a:lstStyle/>
          <a:p>
            <a:r>
              <a:rPr lang="en-US" sz="1300">
                <a:solidFill>
                  <a:srgbClr val="1D2530"/>
                </a:solidFill>
                <a:latin typeface="Aptos" panose="020B0004020202020204" pitchFamily="34" charset="0"/>
              </a:rPr>
              <a:t>Use cache refresh script for later live Trends attempts.</a:t>
            </a:r>
            <a:endParaRPr lang="de-DE" sz="1300">
              <a:solidFill>
                <a:srgbClr val="1D2530"/>
              </a:solidFill>
              <a:latin typeface="Aptos" panose="020B0004020202020204" pitchFamily="34" charset="0"/>
            </a:endParaRPr>
          </a:p>
        </p:txBody>
      </p:sp>
      <p:sp>
        <p:nvSpPr>
          <p:cNvPr id="32" name="Rectangle 31">
            <a:extLst>
              <a:ext uri="{FF2B5EF4-FFF2-40B4-BE49-F238E27FC236}">
                <a16:creationId xmlns:a16="http://schemas.microsoft.com/office/drawing/2014/main" id="{3A327BD2-A42A-6251-F916-9AD5DF59D4D0}"/>
              </a:ext>
            </a:extLst>
          </p:cNvPr>
          <p:cNvSpPr/>
          <p:nvPr/>
        </p:nvSpPr>
        <p:spPr>
          <a:xfrm>
            <a:off x="6355080" y="5093208"/>
            <a:ext cx="64008" cy="64008"/>
          </a:xfrm>
          <a:prstGeom prst="rect">
            <a:avLst/>
          </a:prstGeom>
          <a:solidFill>
            <a:srgbClr val="187D9F"/>
          </a:solidFill>
          <a:ln>
            <a:solidFill>
              <a:srgbClr val="187D9F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5CF51EAD-AD61-5C5E-785C-C8DD7A35E5F6}"/>
              </a:ext>
            </a:extLst>
          </p:cNvPr>
          <p:cNvSpPr txBox="1"/>
          <p:nvPr/>
        </p:nvSpPr>
        <p:spPr>
          <a:xfrm>
            <a:off x="6519672" y="5020056"/>
            <a:ext cx="4133088" cy="437043"/>
          </a:xfrm>
          <a:prstGeom prst="rect">
            <a:avLst/>
          </a:prstGeom>
          <a:noFill/>
        </p:spPr>
        <p:txBody>
          <a:bodyPr vert="horz" lIns="36576" tIns="18288" rIns="36576" bIns="18288" rtlCol="0">
            <a:spAutoFit/>
          </a:bodyPr>
          <a:lstStyle/>
          <a:p>
            <a:r>
              <a:rPr lang="en-US" sz="1300">
                <a:solidFill>
                  <a:srgbClr val="1D2530"/>
                </a:solidFill>
                <a:latin typeface="Aptos" panose="020B0004020202020204" pitchFamily="34" charset="0"/>
              </a:rPr>
              <a:t>Expand ETF fundamentals and historical Trends validation after presentation.</a:t>
            </a:r>
            <a:endParaRPr lang="de-DE" sz="1300">
              <a:solidFill>
                <a:srgbClr val="1D2530"/>
              </a:solidFill>
              <a:latin typeface="Aptos" panose="020B0004020202020204" pitchFamily="34" charset="0"/>
            </a:endParaRPr>
          </a:p>
        </p:txBody>
      </p:sp>
      <p:cxnSp>
        <p:nvCxnSpPr>
          <p:cNvPr id="34" name="Straight Connector 33">
            <a:extLst>
              <a:ext uri="{FF2B5EF4-FFF2-40B4-BE49-F238E27FC236}">
                <a16:creationId xmlns:a16="http://schemas.microsoft.com/office/drawing/2014/main" id="{E4EE80FF-099B-FD58-1548-7EDE60429971}"/>
              </a:ext>
            </a:extLst>
          </p:cNvPr>
          <p:cNvCxnSpPr/>
          <p:nvPr/>
        </p:nvCxnSpPr>
        <p:spPr>
          <a:xfrm>
            <a:off x="530352" y="6446520"/>
            <a:ext cx="11128248" cy="0"/>
          </a:xfrm>
          <a:prstGeom prst="line">
            <a:avLst/>
          </a:prstGeom>
          <a:ln w="10160">
            <a:solidFill>
              <a:srgbClr val="C4CED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5" name="TextBox 34">
            <a:extLst>
              <a:ext uri="{FF2B5EF4-FFF2-40B4-BE49-F238E27FC236}">
                <a16:creationId xmlns:a16="http://schemas.microsoft.com/office/drawing/2014/main" id="{AC27D444-042C-6925-F56F-8CEBFC060D1B}"/>
              </a:ext>
            </a:extLst>
          </p:cNvPr>
          <p:cNvSpPr txBox="1"/>
          <p:nvPr/>
        </p:nvSpPr>
        <p:spPr>
          <a:xfrm>
            <a:off x="530352" y="6492240"/>
            <a:ext cx="6766560" cy="160044"/>
          </a:xfrm>
          <a:prstGeom prst="rect">
            <a:avLst/>
          </a:prstGeom>
          <a:noFill/>
        </p:spPr>
        <p:txBody>
          <a:bodyPr vert="horz" lIns="36576" tIns="18288" rIns="36576" bIns="18288" rtlCol="0">
            <a:spAutoFit/>
          </a:bodyPr>
          <a:lstStyle/>
          <a:p>
            <a:r>
              <a:rPr lang="en-US" sz="800">
                <a:solidFill>
                  <a:srgbClr val="9CA9B6"/>
                </a:solidFill>
                <a:latin typeface="Aptos" panose="020B0004020202020204" pitchFamily="34" charset="0"/>
              </a:rPr>
              <a:t>Decision support only · No autonomous trading · Not financial advice</a:t>
            </a:r>
            <a:endParaRPr lang="de-DE" sz="800">
              <a:solidFill>
                <a:srgbClr val="9CA9B6"/>
              </a:solidFill>
              <a:latin typeface="Aptos" panose="020B0004020202020204" pitchFamily="34" charset="0"/>
            </a:endParaRPr>
          </a:p>
        </p:txBody>
      </p:sp>
      <p:sp>
        <p:nvSpPr>
          <p:cNvPr id="36" name="TextBox 35">
            <a:extLst>
              <a:ext uri="{FF2B5EF4-FFF2-40B4-BE49-F238E27FC236}">
                <a16:creationId xmlns:a16="http://schemas.microsoft.com/office/drawing/2014/main" id="{7EE1F7F4-557F-15A2-64D0-3BE3FD92DF49}"/>
              </a:ext>
            </a:extLst>
          </p:cNvPr>
          <p:cNvSpPr txBox="1"/>
          <p:nvPr/>
        </p:nvSpPr>
        <p:spPr>
          <a:xfrm>
            <a:off x="11201400" y="6492240"/>
            <a:ext cx="457200" cy="160044"/>
          </a:xfrm>
          <a:prstGeom prst="rect">
            <a:avLst/>
          </a:prstGeom>
          <a:noFill/>
        </p:spPr>
        <p:txBody>
          <a:bodyPr vert="horz" lIns="36576" tIns="18288" rIns="36576" bIns="18288" rtlCol="0">
            <a:spAutoFit/>
          </a:bodyPr>
          <a:lstStyle/>
          <a:p>
            <a:r>
              <a:rPr lang="de-DE" sz="800">
                <a:solidFill>
                  <a:srgbClr val="9CA9B6"/>
                </a:solidFill>
                <a:latin typeface="Aptos" panose="020B0004020202020204" pitchFamily="34" charset="0"/>
              </a:rPr>
              <a:t>5/5</a:t>
            </a:r>
          </a:p>
        </p:txBody>
      </p:sp>
    </p:spTree>
    <p:extLst>
      <p:ext uri="{BB962C8B-B14F-4D97-AF65-F5344CB8AC3E}">
        <p14:creationId xmlns:p14="http://schemas.microsoft.com/office/powerpoint/2010/main" val="10862931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681</Words>
  <Application>Microsoft Office PowerPoint</Application>
  <PresentationFormat>Custom</PresentationFormat>
  <Paragraphs>121</Paragraphs>
  <Slides>5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5</vt:i4>
      </vt:variant>
    </vt:vector>
  </HeadingPairs>
  <TitlesOfParts>
    <vt:vector size="9" baseType="lpstr">
      <vt:lpstr>Aptos</vt:lpstr>
      <vt:lpstr>Aptos Display</vt:lpstr>
      <vt:lpstr>Arial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Berwind, Michel</dc:creator>
  <cp:lastModifiedBy>Berwind, Michel</cp:lastModifiedBy>
  <cp:revision>1</cp:revision>
  <dcterms:created xsi:type="dcterms:W3CDTF">2026-06-26T17:32:07Z</dcterms:created>
  <dcterms:modified xsi:type="dcterms:W3CDTF">2026-06-26T17:32:07Z</dcterms:modified>
</cp:coreProperties>
</file>