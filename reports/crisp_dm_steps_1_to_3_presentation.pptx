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1396ef728f481a" /><Relationship Type="http://schemas.openxmlformats.org/officeDocument/2006/relationships/extended-properties" Target="/docProps/app.xml" Id="Rcce930cd65424118" /><Relationship Type="http://schemas.openxmlformats.org/officeDocument/2006/relationships/officeDocument" Target="/ppt/presentation.xml" Id="R96b1ac0147fb43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aa7a1756334d28"/>
  </p:sldMasterIdLst>
  <p:notesMasterIdLst>
    <p:notesMasterId xmlns:r="http://schemas.openxmlformats.org/officeDocument/2006/relationships" r:id="Rc8091568a8f8444b"/>
  </p:notesMasterIdLst>
  <p:sldIdLst>
    <p:sldId xmlns:r="http://schemas.openxmlformats.org/officeDocument/2006/relationships" id="256" r:id="R3920771090e14975"/>
    <p:sldId xmlns:r="http://schemas.openxmlformats.org/officeDocument/2006/relationships" id="257" r:id="Rbd1e44e460154b24"/>
    <p:sldId xmlns:r="http://schemas.openxmlformats.org/officeDocument/2006/relationships" id="258" r:id="Refa1694bd3b34f97"/>
    <p:sldId xmlns:r="http://schemas.openxmlformats.org/officeDocument/2006/relationships" id="259" r:id="R0792cc16a75d48ff"/>
    <p:sldId xmlns:r="http://schemas.openxmlformats.org/officeDocument/2006/relationships" id="260" r:id="R5815e44933704969"/>
    <p:sldId xmlns:r="http://schemas.openxmlformats.org/officeDocument/2006/relationships" id="261" r:id="Re7f9480008bb439e"/>
    <p:sldId xmlns:r="http://schemas.openxmlformats.org/officeDocument/2006/relationships" id="262" r:id="R71cb23469a9441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86b74af73e4fd8" /><Relationship Type="http://schemas.openxmlformats.org/officeDocument/2006/relationships/slideMaster" Target="/ppt/slideMasters/slideMaster1.xml" Id="R1faa7a1756334d28" /><Relationship Type="http://schemas.openxmlformats.org/officeDocument/2006/relationships/notesMaster" Target="/ppt/notesMasters/notesMaster1.xml" Id="Rc8091568a8f8444b" /><Relationship Type="http://schemas.openxmlformats.org/officeDocument/2006/relationships/presProps" Target="/ppt/presProps.xml" Id="R7134278c3fef4c83" /><Relationship Type="http://schemas.openxmlformats.org/officeDocument/2006/relationships/viewProps" Target="/ppt/viewProps.xml" Id="R466623993b4d4a55" /><Relationship Type="http://schemas.openxmlformats.org/officeDocument/2006/relationships/tableStyles" Target="/ppt/tableStyles.xml" Id="R3ad92c24df064c3d" /><Relationship Type="http://schemas.openxmlformats.org/officeDocument/2006/relationships/slide" Target="/ppt/slides/slide1.xml" Id="R3920771090e14975" /><Relationship Type="http://schemas.openxmlformats.org/officeDocument/2006/relationships/slide" Target="/ppt/slides/slide2.xml" Id="Rbd1e44e460154b24" /><Relationship Type="http://schemas.openxmlformats.org/officeDocument/2006/relationships/slide" Target="/ppt/slides/slide3.xml" Id="Refa1694bd3b34f97" /><Relationship Type="http://schemas.openxmlformats.org/officeDocument/2006/relationships/slide" Target="/ppt/slides/slide4.xml" Id="R0792cc16a75d48ff" /><Relationship Type="http://schemas.openxmlformats.org/officeDocument/2006/relationships/slide" Target="/ppt/slides/slide5.xml" Id="R5815e44933704969" /><Relationship Type="http://schemas.openxmlformats.org/officeDocument/2006/relationships/slide" Target="/ppt/slides/slide6.xml" Id="Re7f9480008bb439e" /><Relationship Type="http://schemas.openxmlformats.org/officeDocument/2006/relationships/slide" Target="/ppt/slides/slide7.xml" Id="R71cb23469a9441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9917e6533a4b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d4c57fa5304fe6" /><Relationship Type="http://schemas.openxmlformats.org/officeDocument/2006/relationships/notesMaster" Target="/ppt/notesMasters/notesMaster1.xml" Id="Rdce1a01e03204b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8315c7993643ad" /><Relationship Type="http://schemas.openxmlformats.org/officeDocument/2006/relationships/notesMaster" Target="/ppt/notesMasters/notesMaster1.xml" Id="R18900b3c58be49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520b6d3a224e11" /><Relationship Type="http://schemas.openxmlformats.org/officeDocument/2006/relationships/notesMaster" Target="/ppt/notesMasters/notesMaster1.xml" Id="Ra1c3c5b11ed54b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c5ac016f27424d" /><Relationship Type="http://schemas.openxmlformats.org/officeDocument/2006/relationships/notesMaster" Target="/ppt/notesMasters/notesMaster1.xml" Id="R905ac6e53a2a4b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c13c9390b64cec" /><Relationship Type="http://schemas.openxmlformats.org/officeDocument/2006/relationships/notesMaster" Target="/ppt/notesMasters/notesMaster1.xml" Id="R4015f1b7287a4d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3f9e972f0d4685" /><Relationship Type="http://schemas.openxmlformats.org/officeDocument/2006/relationships/notesMaster" Target="/ppt/notesMasters/notesMaster1.xml" Id="R57736610739e47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7f5d2af26241bb" /><Relationship Type="http://schemas.openxmlformats.org/officeDocument/2006/relationships/notesMaster" Target="/ppt/notesMasters/notesMaster1.xml" Id="Rdcb4d7db587245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143604e9a46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8108cf461e4165" /><Relationship Type="http://schemas.openxmlformats.org/officeDocument/2006/relationships/slideLayout" Target="/ppt/slideLayouts/slideLayout1.xml" Id="Rf30cdd3f012a41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0cdd3f012a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d8b893008412d" /><Relationship Type="http://schemas.openxmlformats.org/officeDocument/2006/relationships/notesSlide" Target="/ppt/notesSlides/notesSlide1.xml" Id="R8fbf1cbe602a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cfe6869164b0a" /><Relationship Type="http://schemas.openxmlformats.org/officeDocument/2006/relationships/notesSlide" Target="/ppt/notesSlides/notesSlide2.xml" Id="R338f8e1fcf0746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85f1099864617" /><Relationship Type="http://schemas.openxmlformats.org/officeDocument/2006/relationships/notesSlide" Target="/ppt/notesSlides/notesSlide3.xml" Id="R12266a482ab34c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c4de0e4a54394" /><Relationship Type="http://schemas.openxmlformats.org/officeDocument/2006/relationships/notesSlide" Target="/ppt/notesSlides/notesSlide4.xml" Id="Rb7b3d1e3650f43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52fdf55544e5d" /><Relationship Type="http://schemas.openxmlformats.org/officeDocument/2006/relationships/notesSlide" Target="/ppt/notesSlides/notesSlide5.xml" Id="R180d620251334c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72373f7e6433c" /><Relationship Type="http://schemas.openxmlformats.org/officeDocument/2006/relationships/notesSlide" Target="/ppt/notesSlides/notesSlide6.xml" Id="R1d0459cc05fe46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4f455b5c24596" /><Relationship Type="http://schemas.openxmlformats.org/officeDocument/2006/relationships/notesSlide" Target="/ppt/notesSlides/notesSlide7.xml" Id="R87cdd17ce3db48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383147-0DCC-4553-93EF-7AEFC9C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28"/>
          </a:solidFill>
          <a:ln xmlns:a="http://schemas.openxmlformats.org/drawingml/2006/main" w="0">
            <a:solidFill>
              <a:srgbClr val="1F2B2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6401E39-BE3B-4CC4-8766-9B785A32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2C0"/>
          </a:solidFill>
          <a:ln xmlns:a="http://schemas.openxmlformats.org/drawingml/2006/main" w="0">
            <a:solidFill>
              <a:srgbClr val="9AD2C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B5A6590-DDDD-472B-B3E7-BB3C6B85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D2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D2C0"/>
                </a:solidFill>
                <a:latin typeface="Aptos"/>
                <a:ea typeface="Aptos"/>
                <a:cs typeface="Aptos"/>
              </a:rPr>
              <a:t>CRISP-DM SCHRITTE 1-3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CE249-3734-4BE6-81B5-6AC9D4F7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19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Sektor-Monitoring als reproduzierbare Entscheidungsunterstützung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3A1C7-E368-408A-A3FD-2DFA92FE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752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6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9D6D0"/>
                </a:solidFill>
                <a:latin typeface="Aptos"/>
                <a:ea typeface="Aptos"/>
                <a:cs typeface="Aptos"/>
              </a:rPr>
              <a:t>Uni-Projekt: KI-gestütztes Kapitalmarkt-Sektor-Monitoring für Analyst:innen einer fiktiven Bank bzw. eines Asset-Managers.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D75FE-D051-465D-88E6-E032074F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1403B"/>
          </a:solidFill>
          <a:ln xmlns:a="http://schemas.openxmlformats.org/drawingml/2006/main" w="9525">
            <a:solidFill>
              <a:srgbClr val="3140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1D4BB-0A1D-4302-8DD2-C15DE385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E7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E7E1"/>
                </a:solidFill>
                <a:latin typeface="Aptos"/>
                <a:ea typeface="Aptos"/>
                <a:cs typeface="Aptos"/>
              </a:rPr>
              <a:t>Keine Anlageberatung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AA22E-432D-44DB-B7DE-A2A19D85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3855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1403B"/>
          </a:solidFill>
          <a:ln xmlns:a="http://schemas.openxmlformats.org/drawingml/2006/main" w="9525">
            <a:solidFill>
              <a:srgbClr val="3140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EB0ED-6F45-49EF-83CC-92BC96AA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957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E7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E7E1"/>
                </a:solidFill>
                <a:latin typeface="Aptos"/>
                <a:ea typeface="Aptos"/>
                <a:cs typeface="Aptos"/>
              </a:rPr>
              <a:t>Kein Trading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E7A49-3DEA-42F8-B9AF-0E7692FD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385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1403B"/>
          </a:solidFill>
          <a:ln xmlns:a="http://schemas.openxmlformats.org/drawingml/2006/main" w="9525">
            <a:solidFill>
              <a:srgbClr val="3140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675B3-9713-4AB3-A533-EBDDAB29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95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E7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E7E1"/>
                </a:solidFill>
                <a:latin typeface="Aptos"/>
                <a:ea typeface="Aptos"/>
                <a:cs typeface="Aptos"/>
              </a:rPr>
              <a:t>Research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48CE3-1B46-4D84-8FEA-B2F699B4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2343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20E5A-7469-48E8-B223-B4CF3140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2C0"/>
          </a:solidFill>
          <a:ln xmlns:a="http://schemas.openxmlformats.org/drawingml/2006/main" w="0">
            <a:solidFill>
              <a:srgbClr val="9AD2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661AA-6654-428C-97A7-F9038E9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11/11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53641-ECFF-46D2-8B1B-9FE26528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GICS-Sektoren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069BC-E7FF-4802-97A7-F36FE066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inkl. Communication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12653-6102-4EC8-A0BF-60CB166D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62500"/>
            <a:ext cx="2343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BC2CF-433C-4446-A13C-460A516C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625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52A"/>
          </a:solidFill>
          <a:ln xmlns:a="http://schemas.openxmlformats.org/drawingml/2006/main" w="0">
            <a:solidFill>
              <a:srgbClr val="C985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0E7E38-46ED-497F-91F6-DF7C7E14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958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15.060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FAF0C-AA82-47A9-A23B-90464AA1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334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Marktdatenzeilen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2A0E3-87B2-470C-8E9C-DA5AECF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5816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SQLite-Datenbank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168C3-E257-492F-8FA2-9707C1A0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2343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01C39-093C-4BC8-8C57-52201DB6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2C0"/>
          </a:solidFill>
          <a:ln xmlns:a="http://schemas.openxmlformats.org/drawingml/2006/main" w="0">
            <a:solidFill>
              <a:srgbClr val="9AD2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9FF8A-5944-46A5-A9B6-B14B9548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958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48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CDE55-F4A3-43C3-9844-CA88ECD4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34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Tests passed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590A69-BAC4-49AA-9495-2239AC7E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816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aktueller technischer Stand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CC0F9-2E4E-430C-BC19-9F6E175B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143000"/>
            <a:ext cx="2247900" cy="2381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26332F"/>
          </a:solidFill>
          <a:ln xmlns:a="http://schemas.openxmlformats.org/drawingml/2006/main" w="9525">
            <a:solidFill>
              <a:srgbClr val="4052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B1D336-5276-4E4C-AC0A-A8C46D05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097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D2C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D2C0"/>
                </a:solidFill>
                <a:latin typeface="Aptos"/>
                <a:ea typeface="Aptos"/>
                <a:cs typeface="Aptos"/>
              </a:rPr>
              <a:t>Fokus der Präsentation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54FB21-A6C0-459B-84BD-C1096701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954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2C0"/>
          </a:solidFill>
          <a:ln xmlns:a="http://schemas.openxmlformats.org/drawingml/2006/main" w="0">
            <a:solidFill>
              <a:srgbClr val="9AD2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E40010-CF89-404B-AE68-4206B7E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335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B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B2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6AD44A-E786-40C6-A87D-ED3B0D07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669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78F906-B1AF-45AD-9BA3-56E563EE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98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2C0"/>
          </a:solidFill>
          <a:ln xmlns:a="http://schemas.openxmlformats.org/drawingml/2006/main" w="0">
            <a:solidFill>
              <a:srgbClr val="9AD2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166BF9-48CF-4C9C-A225-0B20BAEA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479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B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B2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602AE6-B748-4ABB-A0EB-84B0B5A6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Understanding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58FE3B-617B-40D3-BCFA-C508AEE1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241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2C0"/>
          </a:solidFill>
          <a:ln xmlns:a="http://schemas.openxmlformats.org/drawingml/2006/main" w="0">
            <a:solidFill>
              <a:srgbClr val="9AD2C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F5E4AB-13F4-4CD6-8316-F1EF0CFC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622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B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B2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00E1DF-861D-4669-95FD-390EF0AE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95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Preparation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457A71-CC51-4770-9CAE-68752736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Quelle: README, project_status_summary.md, data_quality_summary.md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9F5A1A-8B79-489E-87F3-DABF4C46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53881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82291F-1A21-4724-A1A2-FD212C6C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17CCE06-4ED5-45F7-85F8-025FE2D0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E05D80C-9D1B-4918-9E11-4290B07A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VORGEHENSMODELL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FA170-D199-4976-9ACC-7A36D53E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CRISP-DM strukturiert den Prototyp von der Fragestellung bis zur Datenbasis.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299DA-63CE-4563-8F87-EDA1DDB5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CEBE5"/>
          </a:solidFill>
          <a:ln xmlns:a="http://schemas.openxmlformats.org/drawingml/2006/main" w="9525">
            <a:solidFill>
              <a:srgbClr val="246B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70B49-2BE7-4782-9D29-5B4E0E5B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534A0-3D93-4D35-9858-DA98449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Business Understanding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ED790-97AB-468F-B998-3641095D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Use Case, Ziel, Grenzen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00EDC-A5C9-45BC-ABD9-FA42922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CEBE5"/>
          </a:solidFill>
          <a:ln xmlns:a="http://schemas.openxmlformats.org/drawingml/2006/main" w="9525">
            <a:solidFill>
              <a:srgbClr val="246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09A5F-7CE3-4F52-B192-B5273E7D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A4B4A-8C51-4C15-ACAC-329BA033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Data Understanding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53B8-CEFA-44E9-8A30-01281889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Quellen, Datenbank, Qualität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A4506-E896-4D15-9025-B390B357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CEBE5"/>
          </a:solidFill>
          <a:ln xmlns:a="http://schemas.openxmlformats.org/drawingml/2006/main" w="9525">
            <a:solidFill>
              <a:srgbClr val="246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B5B4D-BD5B-41D0-A423-6E81257D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5270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601D5-21C3-4CFC-93DE-38A39921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Data Preparation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2024D-2142-424E-8485-271D30C8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SQLite, Features,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8031D-8D50-4590-9F5A-2B2C5DA7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CC5C6-55F3-46A5-BB6F-0B3D3B74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726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6726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7693A-6D58-489D-B340-0B234954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Modeling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72753-6530-45F3-B46F-A185F8C8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ML-Layer vorbereitet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B4EC7-93C0-4DE4-92D8-55924B67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387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0748F-53FD-40DA-928B-29FB2425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020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726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6726D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970F2-5D60-45EE-925C-3763B28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2B884B-F22C-4B6A-A004-9D6BBFB3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959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Validierung ausbauen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0F7A0-A725-4DF9-93F8-1BA0C8F4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2ADA6-BE35-4B3D-94C7-682D47AE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726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6726D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38A37-F362-4710-AE5A-DC0AD9E4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40F8A-7413-46F5-8967-D06CB584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Dashboard/Report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221554-3E2D-486D-B97F-CC38B14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37304-16F9-4CA5-A93B-EC5EFC89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336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1B5862-6B55-4D46-BFC7-D685FAE5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3360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166807-8F59-4B7E-9150-33D4371E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63B84F-6628-4C3B-9567-008B9550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099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5EDF30-A208-41FC-BAA7-C46960C4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8165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32B6BF-6A94-44CF-A1EA-B24D04F4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911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7E5742-F304-4999-BECA-3279D38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8165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9DE8BE-EBC3-47FE-A417-D37BEC59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911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11618A-0AC9-4671-949A-FECE88C9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CFFE8A-5498-4544-9AE7-1ADFE5D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05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AA9AF6-CE08-4636-ADFE-DF2B1DA5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2C0C63-DB91-49AC-B434-A2DEB6EF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48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28E4EC-ECC6-47AA-B4C7-3A1E6C72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553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08D68D-60DC-4556-8F2C-7848EE8E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9625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60D3E8-D8E9-49A9-B26E-227FC776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381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DDEEF8-D481-47CC-B5D0-56F022D5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81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Diese Präsentation fokussiert bewusst auf die ersten drei Phasen. Modeling, Evaluation und Deployment existieren im Prototyp, sind aber nicht der Schwerpunkt dieses Abschnitts.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CA3E7D-4EEA-4D62-8864-809F5C47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Quelle: README, project_status_summary.md, data_quality_summary.md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5CA8F2-8875-4FB1-BC98-DC737BC5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30209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BE8AAE-72F4-4AAA-BEFC-1202323C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35525B-3B0D-4E91-858D-4A0D7F27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E159496-AD76-4B50-A8BD-C3D83312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BUSINESS UNDERSTANDING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46515-A5E7-43B1-A594-B30D510E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Der Business Case ist Analystenunterstützung, nicht automatisierte Anlageentscheidung.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C5487-93BD-479D-BC6D-D963CD8F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A115B-5E3F-43EC-A9C1-E324FA78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Akteur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9B5FB-A5E8-46A7-AEFC-1919B112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33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1E"/>
                </a:solidFill>
                <a:latin typeface="Aptos"/>
                <a:ea typeface="Aptos"/>
                <a:cs typeface="Aptos"/>
              </a:rPr>
              <a:t>Fiktive Bank oder Asset-Manager mit Research-Team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3A0F3-76CD-4456-B87B-644D930D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F3A6C-24F6-46D1-B872-9833B27D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D67E5-7D03-4BF1-9785-4B9A87B4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433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1E"/>
                </a:solidFill>
                <a:latin typeface="Aptos"/>
                <a:ea typeface="Aptos"/>
                <a:cs typeface="Aptos"/>
              </a:rPr>
              <a:t>Sektoren müssen laufend beobachtet, priorisiert und transparent erklärt werden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1996F-29BB-4148-88F3-20874E6D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82564-FBB9-44BB-BD8C-F629E553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Ziel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F289D-BF6F-4D6F-861D-F9EC9F01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33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1E"/>
                </a:solidFill>
                <a:latin typeface="Aptos"/>
                <a:ea typeface="Aptos"/>
                <a:cs typeface="Aptos"/>
              </a:rPr>
              <a:t>Explainable Ranking für Sektor-ETFs als strukturierter Research-Input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20180-64BD-4BDC-B3D4-915CBCC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1776A-D1B3-4427-A55A-323DEE6F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386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Nutzen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D3CF4-A455-49E4-9B1A-B2844348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33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1E"/>
                </a:solidFill>
                <a:latin typeface="Aptos"/>
                <a:ea typeface="Aptos"/>
                <a:cs typeface="Aptos"/>
              </a:rPr>
              <a:t>Schnellere Sicht auf Momentum, Risiko, Fundamentaldaten und spätere Trendsignale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69F24-41EB-4DE3-B4A6-6EC91CD7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48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3"/>
          </a:solidFill>
          <a:ln xmlns:a="http://schemas.openxmlformats.org/drawingml/2006/main" w="9525">
            <a:solidFill>
              <a:srgbClr val="E3BD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31162-8177-4B0F-B645-26F7F94D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019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4B1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4B12"/>
                </a:solidFill>
                <a:latin typeface="Aptos"/>
                <a:ea typeface="Aptos"/>
                <a:cs typeface="Aptos"/>
              </a:rPr>
              <a:t>Guardrail: Die Ergebnisse bleiben Entscheidungsunterstützung für menschliche Analyst:innen. Es gibt keine Kauf-/Verkaufsempfehlung und keine Orderausführung.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00E54-328A-46A0-8BF3-11545490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Quelle: README, project_status_summary.md, data_quality_summary.md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3129C-EDAD-4C64-9A52-C404D653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32053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7208E-D99B-4F24-87DE-96BD79D8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FC93A1C-9637-4396-81FD-1E0DAC28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DBF98E-9299-4E7C-B073-24A1A599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DATA UNDERSTANDING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6A72B-605F-4865-829B-DCF1F066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Die Datenbasis ist lokal, sektorvollständig und gegen SPY benchmarkfähig.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7AA08-8C7B-4947-B180-45A6F3EB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SQLite entkoppelt Datenbeschaffung von Analyse: Die Pipeline kann aus gespeicherten Markt- und Fundamentaldaten laufen.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A8FA2-B198-4981-983C-74CC29D3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0A6C3-6DA5-4A59-8C22-7A522F8C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yfinance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381A3-CAFC-4076-AA8D-D95B11BB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OHLCV + ETF-Fundamentals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9ED16-2645-4F0D-9680-1DD07418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AC4F1-F33B-43DB-ABB5-02B62978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Manual 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50D38-8947-447E-A96D-09040EB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Google Trends vorbereitet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8FA6E-4BA9-46BE-B41B-EA43550D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CEBE5"/>
          </a:solidFill>
          <a:ln xmlns:a="http://schemas.openxmlformats.org/drawingml/2006/main" w="9525">
            <a:solidFill>
              <a:srgbClr val="246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9F6F1-3760-4573-9C49-16BB0E9D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528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SQLite 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0931B-3146-4C2C-8E9E-D91EBAE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5760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data/database/sector_monitoring.db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C8664-B5F6-4F10-80F7-D5F514CB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8224B-3092-4E7D-8CD3-C1C6F8AF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11 Sektoren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CD148-97A7-4DE8-80A0-EB35084D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527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XLK ... XLC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B5457-23A5-45EA-9619-5EB6D83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385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9487B-6581-4373-A399-FF291FF1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1000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SPY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B6D39-35FF-4B06-9A82-695A1526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148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B3252-8E58-4EF4-B8C7-30EC0932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E22BF-CE08-479A-BE9A-C21039D1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385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Pipeline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38051-75A9-4BE8-A25A-2D3D5BB9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4330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Scoring + 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D8EF9-825B-43FD-B516-DA61F205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20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C1646-FE66-4BA2-9F32-F93450D6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95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6C3CC-3636-4BA2-91DB-685F98E5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52925"/>
            <a:ext cx="120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88E176-3365-4ACA-AB5C-8914989F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24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F3E64-99D4-403B-A1B5-C2607165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CD043D-C75B-4EA0-A9BC-EB817EB8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47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790100-8983-46B5-BD57-AFE05E7A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909AB6-0F22-47CC-AF11-34EAD261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10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B2BB04-3306-4D85-A838-2A27B444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67050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CE19E0-1E63-4ADF-A66D-CEB942DD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0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27F474-F77F-4AB5-B1B5-195AB33E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4C8727-2225-49AA-8EA4-24953753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18A0E-6AEF-4988-AE0A-255718E3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211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15.060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D77531-FD25-4B08-9269-9610E8F9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Marktdatenzeilen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919F1C-D496-426F-8E1A-02269785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531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Market prices in SQLite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CCCAF3-7E6C-435D-AFA7-F9C3337F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5464BE-B458-46ED-9691-AE172782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004756-8C05-4ECD-BDC0-5AF284B5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67350"/>
            <a:ext cx="211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11/11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686B58-A3F4-4612-87B5-6CFBAD65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055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Sektoren abgedeckt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DBCB7E-E903-4E64-8859-385CD4A8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1531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Standard-GICS-ähnlich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AE9951-114D-4D4A-8701-CE19440B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340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C4BA5C-0688-4BC1-ABCB-63F284E8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34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52A"/>
          </a:solidFill>
          <a:ln xmlns:a="http://schemas.openxmlformats.org/drawingml/2006/main" w="0">
            <a:solidFill>
              <a:srgbClr val="C985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B0F407-0AA0-4108-B2C5-FF11FF6C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67350"/>
            <a:ext cx="211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SPY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F7A890-5670-46EA-906E-838C825E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9055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DD4F9F-45AE-43A0-8EB5-C37EDD27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531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relative Stärke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F647DC-3062-46B5-A6C5-874045B4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Quelle: README, project_status_summary.md, data_quality_summary.md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7E201A-5F34-4DB7-AB42-035FB183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35378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13A9E-CD8B-490A-9DE4-A5F2F2D2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030A3F-0A6E-4330-8274-6640F4C1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EB66289-A3DF-4A19-8155-67027CEB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DATA QUALITY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C3E29-9DD0-486B-9CBC-1993301E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Die Datenqualität ist transparent: Markt-Setup stark, Trends und ETF-Fundamentals noch begrenzt.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C30DB-3966-4F4F-8099-55705636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FFE66-FCFE-40AE-90CE-F887DD4B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Market prices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77FD9-A5CB-42BB-9914-5821D153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812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15.060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7595C-60F1-431E-998D-A308BC43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BE5"/>
          </a:solidFill>
          <a:ln xmlns:a="http://schemas.openxmlformats.org/drawingml/2006/main" w="9525">
            <a:solidFill>
              <a:srgbClr val="DCEB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4D326-2BDD-4939-B52B-4866604F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574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7676C-5AD3-494F-9617-A455C827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DF6B8-B503-4676-8701-21445A3F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Sector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5A210-943F-4A37-807C-6F31CD09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11/11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D3A19-B1A7-47B1-B327-A62D30EB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79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BE5"/>
          </a:solidFill>
          <a:ln xmlns:a="http://schemas.openxmlformats.org/drawingml/2006/main" w="9525">
            <a:solidFill>
              <a:srgbClr val="DCEB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69353-C180-4ED9-AA88-806F324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C4969-5A72-4E31-900B-123FDB4E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336BB-97F7-41C7-B2AA-25231433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Google Trends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103CB-D118-412A-9EFD-5EA88C8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4AD1F-5319-42A6-9BDD-55B34AB3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956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DFDC"/>
          </a:solidFill>
          <a:ln xmlns:a="http://schemas.openxmlformats.org/drawingml/2006/main" w="9525">
            <a:solidFill>
              <a:srgbClr val="F5DF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6BAC7-B86A-450B-A19C-062EA413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528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14B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14B3E"/>
                </a:solidFill>
                <a:latin typeface="Aptos"/>
                <a:ea typeface="Aptos"/>
                <a:cs typeface="Aptos"/>
              </a:rPr>
              <a:t>EMPTY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D8C00-ACC3-44DC-88E0-10011979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6FCBF-ED2A-4A05-9733-C0D9AA02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Trend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18259-A86D-4D01-96B7-61A51895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243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18AE9-D1DE-472A-9A67-0B32BFE2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DFDC"/>
          </a:solidFill>
          <a:ln xmlns:a="http://schemas.openxmlformats.org/drawingml/2006/main" w="9525">
            <a:solidFill>
              <a:srgbClr val="F5DF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68B33-55C7-47D4-AE81-146F179A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14B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14B3E"/>
                </a:solidFill>
                <a:latin typeface="Aptos"/>
                <a:ea typeface="Aptos"/>
                <a:cs typeface="Aptos"/>
              </a:rPr>
              <a:t>EMPTY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15887B-4C40-49AC-B367-8270CA9D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33F715-88AA-48DA-A407-3BAF9B80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Fundamentals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0CE1CA-3DAF-4F53-8D05-A552AFF8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720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1CB40-E4B7-43F0-950C-6033C77F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910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9CE"/>
          </a:solidFill>
          <a:ln xmlns:a="http://schemas.openxmlformats.org/drawingml/2006/main" w="9525">
            <a:solidFill>
              <a:srgbClr val="F8E9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840C0-09E8-4E47-9AA2-A7E14942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85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852A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18411-5FFC-427E-8F21-9B91AA9F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857500" cy="2952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F2B28"/>
          </a:solidFill>
          <a:ln xmlns:a="http://schemas.openxmlformats.org/drawingml/2006/main" w="9525">
            <a:solidFill>
              <a:srgbClr val="1F2B2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29C456-865F-4C6A-AA1F-0A46B0E8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Interpretation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B4FBB5-4021-4745-934F-23D3CB86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035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BE5"/>
                </a:solidFill>
                <a:latin typeface="Aptos"/>
                <a:ea typeface="Aptos"/>
                <a:cs typeface="Aptos"/>
              </a:rPr>
              <a:t>Google Trends ist technisch vorbereitet, aber noch nicht importiert.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E45B45-248C-467B-96B1-41D72D06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147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BE5"/>
                </a:solidFill>
                <a:latin typeface="Aptos"/>
                <a:ea typeface="Aptos"/>
                <a:cs typeface="Aptos"/>
              </a:rPr>
              <a:t>ETF-Fundamentaldaten aus yfinance sind erwartbar unvollständig und werden explizit dokumentiert.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18006C-B8BA-46CE-9CBD-8160FB14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Der Bericht unterstützt CRISP-DM Data Understanding und Data Preparation, weil bekannte Lücken nicht im Scoring versteckt werden.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F2EFBB-CA90-4453-8E7B-4B68084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Quelle: README, project_status_summary.md, data_quality_summary.md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397EFD-9DB6-41AB-93DE-A42BFE0E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3115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4642CF-E562-4BFB-8365-CCEF075B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D98896A-4B0F-4D7D-81DC-A347E956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98AA6ED-154D-4F9D-A1EC-AF5842B8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B"/>
                </a:solidFill>
                <a:latin typeface="Aptos"/>
                <a:ea typeface="Aptos"/>
                <a:cs typeface="Aptos"/>
              </a:rPr>
              <a:t>DATA PREPARATION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7E1AE-1919-491A-9026-5E26A4D4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Die Vorbereitung erzeugt reproduzierbare Features für den stabilen Market/Fundamental Mode.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D7FE4-57BE-4EA7-8C25-37FCB7FC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CEBE5"/>
          </a:solidFill>
          <a:ln xmlns:a="http://schemas.openxmlformats.org/drawingml/2006/main" w="9525">
            <a:solidFill>
              <a:srgbClr val="246B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25E8F-9BFE-4FC7-BCD9-ACE1430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CDCDB-58CC-4E55-BA45-7E760789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Speichern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FE62D-2CD0-4C87-8A14-FD698E2B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SQLite persistiert Preise, Indicators, Fundamentals und Runs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51FA8-DF6E-4F82-86EA-1BF85D21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A92F8-B621-4F07-9030-BDABBF1F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CCBA2-38E7-4342-8D0E-A1767740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46AF4-90D5-4434-82D0-7E8BE129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90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E9726-3AD9-468F-880A-0F4A9FAB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86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Bereinigen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46E2D-427E-44A7-B25A-39B2A3F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909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OHLCV-Spalten, Datumsindex, Missing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CFA61-AE3C-45C6-9FD9-5A0DA39F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3850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B9663-3FC9-4523-8BF5-122D7EDE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46A26-BCD8-4EF1-96FB-BC2775D6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7F2AB-9B12-4FD3-8B89-B905FEFC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053CB-35AA-4DAA-9374-DF439E6F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808EC-68B0-493E-BD5F-67573E96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909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Momentum, Volatilität, Drawdown, Moving Averages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9D437-8BBD-4B83-84BD-9AAA99CD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61D8C-9235-40EC-BC40-460F53A1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34ECC-515C-4318-BE17-B594ACC4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812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785D3-6B0B-49C0-ADFD-2DB91800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90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4F4841-4029-46E5-9304-2E7B42B9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86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4B0EC-542F-4718-8E13-7D5E97FF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909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Relative Stärke vs. SPY über 63/126 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A0EF35-FAD0-46FD-8D8F-1D02685B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712DD2-81F8-40B2-ACEE-D31E2218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F10B68-EDA2-4507-A286-DD97172A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A97BD9-F33E-47C5-9DC7-A88BFF94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90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6B5B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66AD41-533D-439A-8338-891A2174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86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Scoring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1E2485-5603-44F5-830E-31C97A08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909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Explainable Ranking + ML-Predictions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DA0DB7-BBBD-4A97-87E4-01AB634C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8"/>
          </a:solidFill>
          <a:ln xmlns:a="http://schemas.openxmlformats.org/drawingml/2006/main" w="9525">
            <a:solidFill>
              <a:srgbClr val="C5D4C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A6B7B1-1036-458B-B227-E3735E73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013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1E"/>
                </a:solidFill>
                <a:latin typeface="Aptos"/>
                <a:ea typeface="Aptos"/>
                <a:cs typeface="Aptos"/>
              </a:rPr>
              <a:t>Stabiler Default: `market_fundamental` nutzt gespeicherte Markt-, Risiko-, Relative-Strength- und Fundamental-Features. Google Trends wird erst im Full Mode relevant.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C23A4F-008D-4361-9A51-31CA871D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Quelle: README, project_status_summary.md, data_quality_summary.md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14A71F-71AA-48CD-8BA5-3DDB2774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92944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7598A4-0935-4D27-BBDF-A7A4C7ED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28"/>
          </a:solidFill>
          <a:ln xmlns:a="http://schemas.openxmlformats.org/drawingml/2006/main" w="0">
            <a:solidFill>
              <a:srgbClr val="1F2B2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8DB1DB-7E83-4085-A824-D7C2E800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2C0"/>
          </a:solidFill>
          <a:ln xmlns:a="http://schemas.openxmlformats.org/drawingml/2006/main" w="0">
            <a:solidFill>
              <a:srgbClr val="9AD2C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2C538A-2EBF-4340-840C-42FBCB85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D2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D2C0"/>
                </a:solidFill>
                <a:latin typeface="Aptos"/>
                <a:ea typeface="Aptos"/>
                <a:cs typeface="Aptos"/>
              </a:rPr>
              <a:t>AKTUELLER STAND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6AA92-6620-441E-852B-328CB4C4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Der Prototyp ist präsentationsfähig als Research-Baseline; Full Mode ist der nächste Ausbaupfad.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0887A-3935-4B81-A75B-6E920286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1403B"/>
          </a:solidFill>
          <a:ln xmlns:a="http://schemas.openxmlformats.org/drawingml/2006/main" w="9525">
            <a:solidFill>
              <a:srgbClr val="4153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E4717-8387-4EA9-8A08-89E30118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D2C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D2C0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F9980-BD45-42FC-9B07-360A043E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DB-backed Market/Fundamental Mode läuft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1635A-49DD-4ED6-8E0B-BD380B26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1403B"/>
          </a:solidFill>
          <a:ln xmlns:a="http://schemas.openxmlformats.org/drawingml/2006/main" w="9525">
            <a:solidFill>
              <a:srgbClr val="415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F9C0F-3F68-4548-A04A-BD98ED93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622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D2C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D2C0"/>
                </a:solidFill>
                <a:latin typeface="Aptos"/>
                <a:ea typeface="Aptos"/>
                <a:cs typeface="Aptos"/>
              </a:rPr>
              <a:t>ML-Layer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F8FA6-B54E-446D-A6C4-9747B454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098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Supervised Outperformance-Signale integriert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2EF4E-BA03-4FF7-B277-4CAFB97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1403B"/>
          </a:solidFill>
          <a:ln xmlns:a="http://schemas.openxmlformats.org/drawingml/2006/main" w="9525">
            <a:solidFill>
              <a:srgbClr val="4153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20E24-AF8C-4F1B-AD10-50F4E1E4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D2C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D2C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2AEED-3CD7-4B16-A709-168CCCC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Streamlit + HTML Management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6C320-FC9C-4D64-BE4F-7567180F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147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1403B"/>
          </a:solidFill>
          <a:ln xmlns:a="http://schemas.openxmlformats.org/drawingml/2006/main" w="9525">
            <a:solidFill>
              <a:srgbClr val="415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3778F-AB21-4ED2-A0B4-680F5AB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861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D2C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D2C0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290DE-BF25-43F2-8646-74CB1C4E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338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48 passed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8A27-A4B3-4258-8ED4-FB9F96F8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6F3EC"/>
          </a:solidFill>
          <a:ln xmlns:a="http://schemas.openxmlformats.org/drawingml/2006/main" w="9525">
            <a:solidFill>
              <a:srgbClr val="F6F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7F76F-9ECD-49EA-BC36-2917A3AE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211E"/>
                </a:solidFill>
                <a:latin typeface="Aptos Display"/>
                <a:ea typeface="Aptos Display"/>
                <a:cs typeface="Aptos Display"/>
              </a:rPr>
              <a:t>Nächste Schritte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1CFED-54E9-4DA2-B279-0C60D6B8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99C0A-B0D3-488F-B861-71A6E130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1E"/>
                </a:solidFill>
                <a:latin typeface="Aptos"/>
                <a:ea typeface="Aptos"/>
                <a:cs typeface="Aptos"/>
              </a:rPr>
              <a:t>Manuelle Google-Trends-CSV importieren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B38B0-A9D5-4329-AC64-9CB38BCB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8467E-17BD-44D2-B431-552D50FB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67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1E"/>
                </a:solidFill>
                <a:latin typeface="Aptos"/>
                <a:ea typeface="Aptos"/>
                <a:cs typeface="Aptos"/>
              </a:rPr>
              <a:t>Full Mode mit realen Trends testen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969EB-72BD-4654-8AC9-17202D26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B"/>
          </a:solidFill>
          <a:ln xmlns:a="http://schemas.openxmlformats.org/drawingml/2006/main" w="0">
            <a:solidFill>
              <a:srgbClr val="246B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AC198-A2B1-4A44-B324-746D3A8C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1E"/>
                </a:solidFill>
                <a:latin typeface="Aptos"/>
                <a:ea typeface="Aptos"/>
                <a:cs typeface="Aptos"/>
              </a:rPr>
              <a:t>Modell und Backtesting weiter validieren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30644-974C-46D3-99D5-2ED1492D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2F"/>
          </a:solidFill>
          <a:ln xmlns:a="http://schemas.openxmlformats.org/drawingml/2006/main" w="9525">
            <a:solidFill>
              <a:srgbClr val="40524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EA12F-1C83-4AFF-9A44-3A33DE63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00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EB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EBE5"/>
                </a:solidFill>
                <a:latin typeface="Aptos"/>
                <a:ea typeface="Aptos"/>
                <a:cs typeface="Aptos"/>
              </a:rPr>
              <a:t>Alle Outputs bleiben Research-only und benötigen menschliche Analystenprüfung.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B1575-BB93-470F-9186-3695F5BA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D"/>
                </a:solidFill>
                <a:latin typeface="Aptos"/>
                <a:ea typeface="Aptos"/>
                <a:cs typeface="Aptos"/>
              </a:rPr>
              <a:t>Quelle: README, project_status_summary.md, data_quality_summary.md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1F3F6-B89E-4A6B-B973-575DCD18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26D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3476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2026-07-01T17:04:01.8010000Z</dcterms:created>
  <dcterms:modified xsi:type="dcterms:W3CDTF">2026-07-01T17:04:01.8010000Z</dcterms:modified>
</coreProperties>
</file>